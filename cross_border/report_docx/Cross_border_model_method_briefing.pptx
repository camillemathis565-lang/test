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how much do border residents spend in shops on the other side, and does France win or lose?
The model follows five steps. First, who shops: everyone living within 40 km of a French land border, on both sides, from the 2021 census grid. That is about 25 million people, 10.8 million of them in France. Second, how much: the average spending per person in each country from Eurostat, split into everyday goods (food, drink, tobacco) and comparison goods (clothing, furniture, equipment). Third, where: every town centre and retail zone within 70 km of the border, built from OpenStreetMap's 317,000 shops. Fourth, the key step: each destination gets an attractiveness score for each group of residents. Bigger is better, nearer is better, crossing a border is a handicap, and cheaper countries attract more. Fifth, each household's budget is shared between destinations in proportion to their scores, and we add up what crosses the border.
The important point: the shares are probabilities. The euro figures are what we expect on average given the assumptions, not observed spending. This is a well-established model family (Huff), used by retailers and planners to estimate catchment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input is public and traceable. Population comes from the Eurostat census grid, spending and price levels from Eurostat's purchasing power parity data for 2024, and shops and roads from OpenStreetMap, the open map maintained by volunteers and widely used by public administrations.
What we do not have is a direct measure of cross-border purchases: no card payment data, no survey. That is the main reason the results are modelled estimates. The exception is tobacco, where the 2020 border closure gives us an observed shock (DGDDI sales data and INSEE's estimate) that we use to fit the model.
If asked about OpenStreetMap: coverage is very good in France, Germany, Switzerland and Belgium, less even in Spain and Italy. It counts shops, not floor space or turnover.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be transparent on. The model has three dials. The border penalty says how much people are put off by crossing a border. The price sensitivity says how much a cheaper country attracts. The distance decay says how quickly attraction falls with driving time.
These values are reasonable and in line with the literature, but they were not fitted to cross-border shopping data, because no such data are published for France. The border penalty is the most influential: halve it and the flows roughly halve.
So we tested: 15 runs with different values. The directions of the results did not change; the amounts did. That is why we report ranges. For tobacco we could do better, because the 2020 border closure is a natural experiment: we fitted the model to what actually happened to tobacconists'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suggest we use the results in the report.
Green: we can state the direction with confidence. France is a net loser towards Germany and Spain, a net gainer from Belgium, in every one of the 15 runs. Chains bear more of the loss than independent shops.
Amber: the Swiss surplus depends on the price gap (switch prices off and it disappears), which matches what we know of Swiss shopping tourism in France. The €6 billion each way is an order of magnitude: between about €3.5 and €8.5 billion depending on the border penalty. In writing, I would say "several billion euros in each direction".
Tobacco is different: it is fitted to the 2020 border closure and lands close to INSEE's and KPMG's independent estimates, so it is our most solid number.
Red: Luxembourg, because cross-border commuters who shop near their workplace are missing, and any single town, because the shop data are too uneven at that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limits to state openly. The main one: the figures are modelled, not measured. The second: commuters are missing, which matters for Luxembourg and Switzerland. Third: fuel and online are outside the scope. Fourth: OpenStreetMap counts shops, not turnover. Fifth: the split between chains and SMEs relies on brand tags.
The fix is a validation against one observed source before publication: the Banque de France balance of payments, card payment data from a regional bank, or a CCI survey. If the model matches on one border, we can say so in the report and the numbers become much easier to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keep it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1 · HOW THE MODEL WORKS</a:t>
            </a:r>
            <a:endParaRPr lang="en-US" sz="1100" dirty="0"/>
          </a:p>
        </p:txBody>
      </p:sp>
      <p:sp>
        <p:nvSpPr>
          <p:cNvPr id="3" name="Text 1"/>
          <p:cNvSpPr/>
          <p:nvPr/>
        </p:nvSpPr>
        <p:spPr>
          <a:xfrm>
            <a:off x="548640" y="621792"/>
            <a:ext cx="11064240" cy="868680"/>
          </a:xfrm>
          <a:prstGeom prst="rect">
            <a:avLst/>
          </a:prstGeom>
          <a:noFill/>
          <a:ln/>
        </p:spPr>
        <p:txBody>
          <a:bodyPr wrap="square" lIns="0" tIns="0" rIns="0" bIns="0" rtlCol="0" anchor="t"/>
          <a:lstStyle/>
          <a:p>
            <a:pPr indent="0" marL="0">
              <a:buNone/>
            </a:pPr>
            <a:r>
              <a:rPr lang="en-US" sz="2600" b="1" dirty="0">
                <a:solidFill>
                  <a:srgbClr val="1B2A4A"/>
                </a:solidFill>
                <a:latin typeface="Cambria" pitchFamily="34" charset="0"/>
                <a:ea typeface="Cambria" pitchFamily="34" charset="-122"/>
                <a:cs typeface="Cambria" pitchFamily="34" charset="-120"/>
              </a:rPr>
              <a:t>A shopping-trip model shares each household's budget between the shops it can reach</a:t>
            </a:r>
            <a:endParaRPr lang="en-US" sz="2600" dirty="0"/>
          </a:p>
        </p:txBody>
      </p:sp>
      <p:sp>
        <p:nvSpPr>
          <p:cNvPr id="4" name="Shape 2"/>
          <p:cNvSpPr/>
          <p:nvPr/>
        </p:nvSpPr>
        <p:spPr>
          <a:xfrm>
            <a:off x="548640" y="1645920"/>
            <a:ext cx="2057400" cy="1783080"/>
          </a:xfrm>
          <a:prstGeom prst="rect">
            <a:avLst/>
          </a:prstGeom>
          <a:solidFill>
            <a:srgbClr val="EEF2F7"/>
          </a:solidFill>
          <a:ln w="12700">
            <a:solidFill>
              <a:srgbClr val="EEF2F7"/>
            </a:solidFill>
            <a:prstDash val="solid"/>
          </a:ln>
        </p:spPr>
      </p:sp>
      <p:sp>
        <p:nvSpPr>
          <p:cNvPr id="5" name="Text 3"/>
          <p:cNvSpPr/>
          <p:nvPr/>
        </p:nvSpPr>
        <p:spPr>
          <a:xfrm>
            <a:off x="685800" y="1737360"/>
            <a:ext cx="457200" cy="411480"/>
          </a:xfrm>
          <a:prstGeom prst="rect">
            <a:avLst/>
          </a:prstGeom>
          <a:noFill/>
          <a:ln/>
        </p:spPr>
        <p:txBody>
          <a:bodyPr wrap="square" lIns="0" tIns="0" rIns="0" bIns="0" rtlCol="0" anchor="ctr"/>
          <a:lstStyle/>
          <a:p>
            <a:pPr indent="0" marL="0">
              <a:buNone/>
            </a:pPr>
            <a:r>
              <a:rPr lang="en-US" sz="2200" b="1" dirty="0">
                <a:solidFill>
                  <a:srgbClr val="2E6DB4"/>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685800" y="2148840"/>
            <a:ext cx="1783080"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Who shops</a:t>
            </a:r>
            <a:endParaRPr lang="en-US" sz="1500" dirty="0"/>
          </a:p>
        </p:txBody>
      </p:sp>
      <p:sp>
        <p:nvSpPr>
          <p:cNvPr id="7" name="Text 5"/>
          <p:cNvSpPr/>
          <p:nvPr/>
        </p:nvSpPr>
        <p:spPr>
          <a:xfrm>
            <a:off x="685800" y="2514600"/>
            <a:ext cx="1783080" cy="868680"/>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25 m residents within 40 km of the border (10.8 m in France), in 2 km cells</a:t>
            </a:r>
            <a:endParaRPr lang="en-US" sz="1100" dirty="0"/>
          </a:p>
        </p:txBody>
      </p:sp>
      <p:sp>
        <p:nvSpPr>
          <p:cNvPr id="8" name="Text 6"/>
          <p:cNvSpPr/>
          <p:nvPr/>
        </p:nvSpPr>
        <p:spPr>
          <a:xfrm>
            <a:off x="2587752" y="2286000"/>
            <a:ext cx="228600" cy="457200"/>
          </a:xfrm>
          <a:prstGeom prst="rect">
            <a:avLst/>
          </a:prstGeom>
          <a:noFill/>
          <a:ln/>
        </p:spPr>
        <p:txBody>
          <a:bodyPr wrap="square" lIns="0" tIns="0" rIns="0" bIns="0" rtlCol="0" anchor="ctr"/>
          <a:lstStyle/>
          <a:p>
            <a:pPr algn="ctr" indent="0" marL="0">
              <a:buNone/>
            </a:pPr>
            <a:r>
              <a:rPr lang="en-US" sz="2200" b="1" dirty="0">
                <a:solidFill>
                  <a:srgbClr val="B8C2CC"/>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798064" y="1645920"/>
            <a:ext cx="2057400" cy="1783080"/>
          </a:xfrm>
          <a:prstGeom prst="rect">
            <a:avLst/>
          </a:prstGeom>
          <a:solidFill>
            <a:srgbClr val="EEF2F7"/>
          </a:solidFill>
          <a:ln w="12700">
            <a:solidFill>
              <a:srgbClr val="EEF2F7"/>
            </a:solidFill>
            <a:prstDash val="solid"/>
          </a:ln>
        </p:spPr>
      </p:sp>
      <p:sp>
        <p:nvSpPr>
          <p:cNvPr id="10" name="Text 8"/>
          <p:cNvSpPr/>
          <p:nvPr/>
        </p:nvSpPr>
        <p:spPr>
          <a:xfrm>
            <a:off x="2935224" y="1737360"/>
            <a:ext cx="457200" cy="411480"/>
          </a:xfrm>
          <a:prstGeom prst="rect">
            <a:avLst/>
          </a:prstGeom>
          <a:noFill/>
          <a:ln/>
        </p:spPr>
        <p:txBody>
          <a:bodyPr wrap="square" lIns="0" tIns="0" rIns="0" bIns="0" rtlCol="0" anchor="ctr"/>
          <a:lstStyle/>
          <a:p>
            <a:pPr indent="0" marL="0">
              <a:buNone/>
            </a:pPr>
            <a:r>
              <a:rPr lang="en-US" sz="2200" b="1" dirty="0">
                <a:solidFill>
                  <a:srgbClr val="2E6DB4"/>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2935224" y="2148840"/>
            <a:ext cx="1783080"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How much</a:t>
            </a:r>
            <a:endParaRPr lang="en-US" sz="1500" dirty="0"/>
          </a:p>
        </p:txBody>
      </p:sp>
      <p:sp>
        <p:nvSpPr>
          <p:cNvPr id="12" name="Text 10"/>
          <p:cNvSpPr/>
          <p:nvPr/>
        </p:nvSpPr>
        <p:spPr>
          <a:xfrm>
            <a:off x="2935224" y="2514600"/>
            <a:ext cx="1783080" cy="868680"/>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Spending per person in each country, for everyday and comparison goods</a:t>
            </a:r>
            <a:endParaRPr lang="en-US" sz="1100" dirty="0"/>
          </a:p>
        </p:txBody>
      </p:sp>
      <p:sp>
        <p:nvSpPr>
          <p:cNvPr id="13" name="Text 11"/>
          <p:cNvSpPr/>
          <p:nvPr/>
        </p:nvSpPr>
        <p:spPr>
          <a:xfrm>
            <a:off x="4837176" y="2286000"/>
            <a:ext cx="228600" cy="457200"/>
          </a:xfrm>
          <a:prstGeom prst="rect">
            <a:avLst/>
          </a:prstGeom>
          <a:noFill/>
          <a:ln/>
        </p:spPr>
        <p:txBody>
          <a:bodyPr wrap="square" lIns="0" tIns="0" rIns="0" bIns="0" rtlCol="0" anchor="ctr"/>
          <a:lstStyle/>
          <a:p>
            <a:pPr algn="ctr" indent="0" marL="0">
              <a:buNone/>
            </a:pPr>
            <a:r>
              <a:rPr lang="en-US" sz="2200" b="1" dirty="0">
                <a:solidFill>
                  <a:srgbClr val="B8C2CC"/>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5047488" y="1645920"/>
            <a:ext cx="2057400" cy="1783080"/>
          </a:xfrm>
          <a:prstGeom prst="rect">
            <a:avLst/>
          </a:prstGeom>
          <a:solidFill>
            <a:srgbClr val="EEF2F7"/>
          </a:solidFill>
          <a:ln w="12700">
            <a:solidFill>
              <a:srgbClr val="EEF2F7"/>
            </a:solidFill>
            <a:prstDash val="solid"/>
          </a:ln>
        </p:spPr>
      </p:sp>
      <p:sp>
        <p:nvSpPr>
          <p:cNvPr id="15" name="Text 13"/>
          <p:cNvSpPr/>
          <p:nvPr/>
        </p:nvSpPr>
        <p:spPr>
          <a:xfrm>
            <a:off x="5184648" y="1737360"/>
            <a:ext cx="457200" cy="411480"/>
          </a:xfrm>
          <a:prstGeom prst="rect">
            <a:avLst/>
          </a:prstGeom>
          <a:noFill/>
          <a:ln/>
        </p:spPr>
        <p:txBody>
          <a:bodyPr wrap="square" lIns="0" tIns="0" rIns="0" bIns="0" rtlCol="0" anchor="ctr"/>
          <a:lstStyle/>
          <a:p>
            <a:pPr indent="0" marL="0">
              <a:buNone/>
            </a:pPr>
            <a:r>
              <a:rPr lang="en-US" sz="2200" b="1" dirty="0">
                <a:solidFill>
                  <a:srgbClr val="2E6DB4"/>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5184648" y="2148840"/>
            <a:ext cx="1783080"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Where</a:t>
            </a:r>
            <a:endParaRPr lang="en-US" sz="1500" dirty="0"/>
          </a:p>
        </p:txBody>
      </p:sp>
      <p:sp>
        <p:nvSpPr>
          <p:cNvPr id="17" name="Text 15"/>
          <p:cNvSpPr/>
          <p:nvPr/>
        </p:nvSpPr>
        <p:spPr>
          <a:xfrm>
            <a:off x="5184648" y="2514600"/>
            <a:ext cx="1783080" cy="868680"/>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1,302 town centres and retail zones within 70 km, built from 317,000 mapped shops</a:t>
            </a:r>
            <a:endParaRPr lang="en-US" sz="1100" dirty="0"/>
          </a:p>
        </p:txBody>
      </p:sp>
      <p:sp>
        <p:nvSpPr>
          <p:cNvPr id="18" name="Text 16"/>
          <p:cNvSpPr/>
          <p:nvPr/>
        </p:nvSpPr>
        <p:spPr>
          <a:xfrm>
            <a:off x="7086600" y="2286000"/>
            <a:ext cx="228600" cy="457200"/>
          </a:xfrm>
          <a:prstGeom prst="rect">
            <a:avLst/>
          </a:prstGeom>
          <a:noFill/>
          <a:ln/>
        </p:spPr>
        <p:txBody>
          <a:bodyPr wrap="square" lIns="0" tIns="0" rIns="0" bIns="0" rtlCol="0" anchor="ctr"/>
          <a:lstStyle/>
          <a:p>
            <a:pPr algn="ctr" indent="0" marL="0">
              <a:buNone/>
            </a:pPr>
            <a:r>
              <a:rPr lang="en-US" sz="2200" b="1" dirty="0">
                <a:solidFill>
                  <a:srgbClr val="B8C2CC"/>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7296912" y="1645920"/>
            <a:ext cx="2057400" cy="1783080"/>
          </a:xfrm>
          <a:prstGeom prst="rect">
            <a:avLst/>
          </a:prstGeom>
          <a:solidFill>
            <a:srgbClr val="1B2A4A"/>
          </a:solidFill>
          <a:ln w="12700">
            <a:solidFill>
              <a:srgbClr val="1B2A4A"/>
            </a:solidFill>
            <a:prstDash val="solid"/>
          </a:ln>
        </p:spPr>
      </p:sp>
      <p:sp>
        <p:nvSpPr>
          <p:cNvPr id="20" name="Text 18"/>
          <p:cNvSpPr/>
          <p:nvPr/>
        </p:nvSpPr>
        <p:spPr>
          <a:xfrm>
            <a:off x="7434072" y="1737360"/>
            <a:ext cx="457200" cy="411480"/>
          </a:xfrm>
          <a:prstGeom prst="rect">
            <a:avLst/>
          </a:prstGeom>
          <a:noFill/>
          <a:ln/>
        </p:spPr>
        <p:txBody>
          <a:bodyPr wrap="square" lIns="0" tIns="0" rIns="0" bIns="0" rtlCol="0" anchor="ctr"/>
          <a:lstStyle/>
          <a:p>
            <a:pPr indent="0" marL="0">
              <a:buNone/>
            </a:pPr>
            <a:r>
              <a:rPr lang="en-US" sz="2200" b="1" dirty="0">
                <a:solidFill>
                  <a:srgbClr val="A9CBE8"/>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7434072" y="2148840"/>
            <a:ext cx="178308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How attractive</a:t>
            </a:r>
            <a:endParaRPr lang="en-US" sz="1500" dirty="0"/>
          </a:p>
        </p:txBody>
      </p:sp>
      <p:sp>
        <p:nvSpPr>
          <p:cNvPr id="22" name="Text 20"/>
          <p:cNvSpPr/>
          <p:nvPr/>
        </p:nvSpPr>
        <p:spPr>
          <a:xfrm>
            <a:off x="7434072" y="2514600"/>
            <a:ext cx="1783080" cy="868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Each destination scored on size, driving time, border crossing and price gap</a:t>
            </a:r>
            <a:endParaRPr lang="en-US" sz="1100" dirty="0"/>
          </a:p>
        </p:txBody>
      </p:sp>
      <p:sp>
        <p:nvSpPr>
          <p:cNvPr id="23" name="Text 21"/>
          <p:cNvSpPr/>
          <p:nvPr/>
        </p:nvSpPr>
        <p:spPr>
          <a:xfrm>
            <a:off x="9336024" y="2286000"/>
            <a:ext cx="228600" cy="457200"/>
          </a:xfrm>
          <a:prstGeom prst="rect">
            <a:avLst/>
          </a:prstGeom>
          <a:noFill/>
          <a:ln/>
        </p:spPr>
        <p:txBody>
          <a:bodyPr wrap="square" lIns="0" tIns="0" rIns="0" bIns="0" rtlCol="0" anchor="ctr"/>
          <a:lstStyle/>
          <a:p>
            <a:pPr algn="ctr" indent="0" marL="0">
              <a:buNone/>
            </a:pPr>
            <a:r>
              <a:rPr lang="en-US" sz="2200" b="1" dirty="0">
                <a:solidFill>
                  <a:srgbClr val="B8C2CC"/>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9546336" y="1645920"/>
            <a:ext cx="2057400" cy="1783080"/>
          </a:xfrm>
          <a:prstGeom prst="rect">
            <a:avLst/>
          </a:prstGeom>
          <a:solidFill>
            <a:srgbClr val="EEF2F7"/>
          </a:solidFill>
          <a:ln w="12700">
            <a:solidFill>
              <a:srgbClr val="EEF2F7"/>
            </a:solidFill>
            <a:prstDash val="solid"/>
          </a:ln>
        </p:spPr>
      </p:sp>
      <p:sp>
        <p:nvSpPr>
          <p:cNvPr id="25" name="Text 23"/>
          <p:cNvSpPr/>
          <p:nvPr/>
        </p:nvSpPr>
        <p:spPr>
          <a:xfrm>
            <a:off x="9683496" y="1737360"/>
            <a:ext cx="457200" cy="411480"/>
          </a:xfrm>
          <a:prstGeom prst="rect">
            <a:avLst/>
          </a:prstGeom>
          <a:noFill/>
          <a:ln/>
        </p:spPr>
        <p:txBody>
          <a:bodyPr wrap="square" lIns="0" tIns="0" rIns="0" bIns="0" rtlCol="0" anchor="ctr"/>
          <a:lstStyle/>
          <a:p>
            <a:pPr indent="0" marL="0">
              <a:buNone/>
            </a:pPr>
            <a:r>
              <a:rPr lang="en-US" sz="2200" b="1" dirty="0">
                <a:solidFill>
                  <a:srgbClr val="2E6DB4"/>
                </a:solidFill>
                <a:latin typeface="Cambria" pitchFamily="34" charset="0"/>
                <a:ea typeface="Cambria" pitchFamily="34" charset="-122"/>
                <a:cs typeface="Cambria" pitchFamily="34" charset="-120"/>
              </a:rPr>
              <a:t>5</a:t>
            </a:r>
            <a:endParaRPr lang="en-US" sz="2200" dirty="0"/>
          </a:p>
        </p:txBody>
      </p:sp>
      <p:sp>
        <p:nvSpPr>
          <p:cNvPr id="26" name="Text 24"/>
          <p:cNvSpPr/>
          <p:nvPr/>
        </p:nvSpPr>
        <p:spPr>
          <a:xfrm>
            <a:off x="9683496" y="2148840"/>
            <a:ext cx="1783080"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Flows in €</a:t>
            </a:r>
            <a:endParaRPr lang="en-US" sz="1500" dirty="0"/>
          </a:p>
        </p:txBody>
      </p:sp>
      <p:sp>
        <p:nvSpPr>
          <p:cNvPr id="27" name="Text 25"/>
          <p:cNvSpPr/>
          <p:nvPr/>
        </p:nvSpPr>
        <p:spPr>
          <a:xfrm>
            <a:off x="9683496" y="2514600"/>
            <a:ext cx="1783080" cy="868680"/>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Budget shared in proportion to the scores, then summed by country</a:t>
            </a:r>
            <a:endParaRPr lang="en-US" sz="1100" dirty="0"/>
          </a:p>
        </p:txBody>
      </p:sp>
      <p:sp>
        <p:nvSpPr>
          <p:cNvPr id="28" name="Shape 26"/>
          <p:cNvSpPr/>
          <p:nvPr/>
        </p:nvSpPr>
        <p:spPr>
          <a:xfrm>
            <a:off x="548640" y="3657600"/>
            <a:ext cx="5394960" cy="2606040"/>
          </a:xfrm>
          <a:prstGeom prst="rect">
            <a:avLst/>
          </a:prstGeom>
          <a:solidFill>
            <a:srgbClr val="FFFFFF"/>
          </a:solidFill>
          <a:ln w="12700">
            <a:solidFill>
              <a:srgbClr val="B8C2CC"/>
            </a:solidFill>
            <a:prstDash val="solid"/>
          </a:ln>
        </p:spPr>
      </p:sp>
      <p:sp>
        <p:nvSpPr>
          <p:cNvPr id="29" name="Text 27"/>
          <p:cNvSpPr/>
          <p:nvPr/>
        </p:nvSpPr>
        <p:spPr>
          <a:xfrm>
            <a:off x="731520" y="3767328"/>
            <a:ext cx="5029200" cy="32004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The attractiveness score (step 4)</a:t>
            </a:r>
            <a:endParaRPr lang="en-US" sz="1400" dirty="0"/>
          </a:p>
        </p:txBody>
      </p:sp>
      <p:sp>
        <p:nvSpPr>
          <p:cNvPr id="30" name="Text 28"/>
          <p:cNvSpPr/>
          <p:nvPr/>
        </p:nvSpPr>
        <p:spPr>
          <a:xfrm>
            <a:off x="731520" y="4133088"/>
            <a:ext cx="5074920" cy="2057400"/>
          </a:xfrm>
          <a:prstGeom prst="rect">
            <a:avLst/>
          </a:prstGeom>
          <a:noFill/>
          <a:ln/>
        </p:spPr>
        <p:txBody>
          <a:bodyPr wrap="square" lIns="0" tIns="0" rIns="0" bIns="0" rtlCol="0" anchor="t"/>
          <a:lstStyle/>
          <a:p>
            <a:pPr indent="0" marL="0">
              <a:buNone/>
            </a:pPr>
            <a:r>
              <a:rPr lang="en-US" sz="1150" b="1" dirty="0">
                <a:solidFill>
                  <a:srgbClr val="2E6DB4"/>
                </a:solidFill>
                <a:latin typeface="Calibri" pitchFamily="34" charset="0"/>
                <a:ea typeface="Calibri" pitchFamily="34" charset="-122"/>
                <a:cs typeface="Calibri" pitchFamily="34" charset="-120"/>
              </a:rPr>
              <a:t>Score = Size × Distance decay × Border penalty × Price effect</a:t>
            </a:r>
            <a:endParaRPr lang="en-US" sz="1150" dirty="0"/>
          </a:p>
          <a:p>
            <a:pPr indent="0" marL="0">
              <a:buNone/>
            </a:pPr>
            <a:r>
              <a:rPr lang="en-US" sz="500" dirty="0">
                <a:solidFill>
                  <a:srgbClr val="22303F"/>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22303F"/>
                </a:solidFill>
                <a:latin typeface="Calibri" pitchFamily="34" charset="0"/>
                <a:ea typeface="Calibri" pitchFamily="34" charset="-122"/>
                <a:cs typeface="Calibri" pitchFamily="34" charset="-120"/>
              </a:rPr>
              <a:t>Size: </a:t>
            </a:r>
            <a:pPr indent="0" marL="0">
              <a:buNone/>
            </a:pPr>
            <a:r>
              <a:rPr lang="en-US" sz="1150" dirty="0">
                <a:solidFill>
                  <a:srgbClr val="22303F"/>
                </a:solidFill>
                <a:latin typeface="Calibri" pitchFamily="34" charset="0"/>
                <a:ea typeface="Calibri" pitchFamily="34" charset="-122"/>
                <a:cs typeface="Calibri" pitchFamily="34" charset="-120"/>
              </a:rPr>
              <a:t>number of shops, big boxes weighted more</a:t>
            </a:r>
            <a:endParaRPr lang="en-US" sz="1150" dirty="0"/>
          </a:p>
          <a:p>
            <a:pPr indent="0" marL="0">
              <a:buNone/>
            </a:pPr>
            <a:r>
              <a:rPr lang="en-US" sz="1150" b="1" dirty="0">
                <a:solidFill>
                  <a:srgbClr val="22303F"/>
                </a:solidFill>
                <a:latin typeface="Calibri" pitchFamily="34" charset="0"/>
                <a:ea typeface="Calibri" pitchFamily="34" charset="-122"/>
                <a:cs typeface="Calibri" pitchFamily="34" charset="-120"/>
              </a:rPr>
              <a:t>Distance decay: </a:t>
            </a:r>
            <a:pPr indent="0" marL="0">
              <a:buNone/>
            </a:pPr>
            <a:r>
              <a:rPr lang="en-US" sz="1150" dirty="0">
                <a:solidFill>
                  <a:srgbClr val="22303F"/>
                </a:solidFill>
                <a:latin typeface="Calibri" pitchFamily="34" charset="0"/>
                <a:ea typeface="Calibri" pitchFamily="34" charset="-122"/>
                <a:cs typeface="Calibri" pitchFamily="34" charset="-120"/>
              </a:rPr>
              <a:t>attraction falls with each minute of driving</a:t>
            </a:r>
            <a:endParaRPr lang="en-US" sz="1150" dirty="0"/>
          </a:p>
          <a:p>
            <a:pPr indent="0" marL="0">
              <a:buNone/>
            </a:pPr>
            <a:r>
              <a:rPr lang="en-US" sz="1150" b="1" dirty="0">
                <a:solidFill>
                  <a:srgbClr val="22303F"/>
                </a:solidFill>
                <a:latin typeface="Calibri" pitchFamily="34" charset="0"/>
                <a:ea typeface="Calibri" pitchFamily="34" charset="-122"/>
                <a:cs typeface="Calibri" pitchFamily="34" charset="-120"/>
              </a:rPr>
              <a:t>Border penalty: </a:t>
            </a:r>
            <a:pPr indent="0" marL="0">
              <a:buNone/>
            </a:pPr>
            <a:r>
              <a:rPr lang="en-US" sz="1150" dirty="0">
                <a:solidFill>
                  <a:srgbClr val="22303F"/>
                </a:solidFill>
                <a:latin typeface="Calibri" pitchFamily="34" charset="0"/>
                <a:ea typeface="Calibri" pitchFamily="34" charset="-122"/>
                <a:cs typeface="Calibri" pitchFamily="34" charset="-120"/>
              </a:rPr>
              <a:t>crossing a border counts as a handicap (language, habits)</a:t>
            </a:r>
            <a:endParaRPr lang="en-US" sz="1150" dirty="0"/>
          </a:p>
          <a:p>
            <a:pPr indent="0" marL="0">
              <a:buNone/>
            </a:pPr>
            <a:r>
              <a:rPr lang="en-US" sz="1150" b="1" dirty="0">
                <a:solidFill>
                  <a:srgbClr val="22303F"/>
                </a:solidFill>
                <a:latin typeface="Calibri" pitchFamily="34" charset="0"/>
                <a:ea typeface="Calibri" pitchFamily="34" charset="-122"/>
                <a:cs typeface="Calibri" pitchFamily="34" charset="-120"/>
              </a:rPr>
              <a:t>Price effect: </a:t>
            </a:r>
            <a:pPr indent="0" marL="0">
              <a:buNone/>
            </a:pPr>
            <a:r>
              <a:rPr lang="en-US" sz="1150" dirty="0">
                <a:solidFill>
                  <a:srgbClr val="22303F"/>
                </a:solidFill>
                <a:latin typeface="Calibri" pitchFamily="34" charset="0"/>
                <a:ea typeface="Calibri" pitchFamily="34" charset="-122"/>
                <a:cs typeface="Calibri" pitchFamily="34" charset="-120"/>
              </a:rPr>
              <a:t>cheaper countries attract more (Eurostat price levels)</a:t>
            </a:r>
            <a:endParaRPr lang="en-US" sz="1150" dirty="0"/>
          </a:p>
          <a:p>
            <a:pPr indent="0" marL="0">
              <a:buNone/>
            </a:pPr>
            <a:r>
              <a:rPr lang="en-US" sz="500" dirty="0">
                <a:solidFill>
                  <a:srgbClr val="22303F"/>
                </a:solidFill>
                <a:latin typeface="Calibri" pitchFamily="34" charset="0"/>
                <a:ea typeface="Calibri" pitchFamily="34" charset="-122"/>
                <a:cs typeface="Calibri" pitchFamily="34" charset="-120"/>
              </a:rPr>
              <a:t> </a:t>
            </a:r>
            <a:endParaRPr lang="en-US" sz="1150" dirty="0"/>
          </a:p>
          <a:p>
            <a:pPr indent="0" marL="0">
              <a:buNone/>
            </a:pPr>
            <a:r>
              <a:rPr lang="en-US" sz="1150" i="1" dirty="0">
                <a:solidFill>
                  <a:srgbClr val="5F6B7A"/>
                </a:solidFill>
                <a:latin typeface="Calibri" pitchFamily="34" charset="0"/>
                <a:ea typeface="Calibri" pitchFamily="34" charset="-122"/>
                <a:cs typeface="Calibri" pitchFamily="34" charset="-120"/>
              </a:rPr>
              <a:t>Share of budget going to a destination = its score ÷ sum of all scores. These shares are probabilities: the outputs are expected values, not measured spending.</a:t>
            </a:r>
            <a:endParaRPr lang="en-US" sz="1150" dirty="0"/>
          </a:p>
        </p:txBody>
      </p:sp>
      <p:sp>
        <p:nvSpPr>
          <p:cNvPr id="31" name="Shape 29"/>
          <p:cNvSpPr/>
          <p:nvPr/>
        </p:nvSpPr>
        <p:spPr>
          <a:xfrm>
            <a:off x="6172200" y="3657600"/>
            <a:ext cx="5440680" cy="2606040"/>
          </a:xfrm>
          <a:prstGeom prst="rect">
            <a:avLst/>
          </a:prstGeom>
          <a:solidFill>
            <a:srgbClr val="EEF2F7"/>
          </a:solidFill>
          <a:ln w="12700">
            <a:solidFill>
              <a:srgbClr val="EEF2F7"/>
            </a:solidFill>
            <a:prstDash val="solid"/>
          </a:ln>
        </p:spPr>
      </p:sp>
      <p:sp>
        <p:nvSpPr>
          <p:cNvPr id="32" name="Text 30"/>
          <p:cNvSpPr/>
          <p:nvPr/>
        </p:nvSpPr>
        <p:spPr>
          <a:xfrm>
            <a:off x="6355080" y="3767328"/>
            <a:ext cx="5029200" cy="32004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Illustrative example</a:t>
            </a:r>
            <a:endParaRPr lang="en-US" sz="1400" dirty="0"/>
          </a:p>
        </p:txBody>
      </p:sp>
      <p:sp>
        <p:nvSpPr>
          <p:cNvPr id="33" name="Text 31"/>
          <p:cNvSpPr/>
          <p:nvPr/>
        </p:nvSpPr>
        <p:spPr>
          <a:xfrm>
            <a:off x="6355080" y="4133088"/>
            <a:ext cx="5120640" cy="2057400"/>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1,000 residents near Strasbourg spend €3,475 each a year on food, drink and tobacco: </a:t>
            </a:r>
            <a:pPr indent="0" marL="0">
              <a:buNone/>
            </a:pPr>
            <a:r>
              <a:rPr lang="en-US" sz="1150" b="1" dirty="0">
                <a:solidFill>
                  <a:srgbClr val="22303F"/>
                </a:solidFill>
                <a:latin typeface="Calibri" pitchFamily="34" charset="0"/>
                <a:ea typeface="Calibri" pitchFamily="34" charset="-122"/>
                <a:cs typeface="Calibri" pitchFamily="34" charset="-120"/>
              </a:rPr>
              <a:t>€3.5 m in total.</a:t>
            </a:r>
            <a:endParaRPr lang="en-US" sz="1150" dirty="0"/>
          </a:p>
          <a:p>
            <a:pPr indent="0" marL="0">
              <a:buNone/>
            </a:pPr>
            <a:r>
              <a:rPr lang="en-US" sz="500" dirty="0">
                <a:solidFill>
                  <a:srgbClr val="22303F"/>
                </a:solidFill>
                <a:latin typeface="Calibri" pitchFamily="34" charset="0"/>
                <a:ea typeface="Calibri" pitchFamily="34" charset="-122"/>
                <a:cs typeface="Calibri" pitchFamily="34" charset="-120"/>
              </a:rPr>
              <a:t> </a:t>
            </a:r>
            <a:endParaRPr lang="en-US" sz="1150" dirty="0"/>
          </a:p>
          <a:p>
            <a:pPr indent="0" marL="0">
              <a:buNone/>
            </a:pPr>
            <a:r>
              <a:rPr lang="en-US" sz="1150" dirty="0">
                <a:solidFill>
                  <a:srgbClr val="22303F"/>
                </a:solidFill>
                <a:latin typeface="Calibri" pitchFamily="34" charset="0"/>
                <a:ea typeface="Calibri" pitchFamily="34" charset="-122"/>
                <a:cs typeface="Calibri" pitchFamily="34" charset="-120"/>
              </a:rPr>
              <a:t>If the scores give 70% to French destinations and 30% to Kehl (close, large, cheaper):</a:t>
            </a:r>
            <a:endParaRPr lang="en-US" sz="1150" dirty="0"/>
          </a:p>
          <a:p>
            <a:pPr indent="0" marL="0">
              <a:buNone/>
            </a:pPr>
            <a:r>
              <a:rPr lang="en-US" sz="1150" b="1" dirty="0">
                <a:solidFill>
                  <a:srgbClr val="1B2A4A"/>
                </a:solidFill>
                <a:latin typeface="Calibri" pitchFamily="34" charset="0"/>
                <a:ea typeface="Calibri" pitchFamily="34" charset="-122"/>
                <a:cs typeface="Calibri" pitchFamily="34" charset="-120"/>
              </a:rPr>
              <a:t>  → €2.4 m stays in France</a:t>
            </a:r>
            <a:endParaRPr lang="en-US" sz="1150" dirty="0"/>
          </a:p>
          <a:p>
            <a:pPr indent="0" marL="0">
              <a:buNone/>
            </a:pPr>
            <a:r>
              <a:rPr lang="en-US" sz="1150" b="1" dirty="0">
                <a:solidFill>
                  <a:srgbClr val="C0504D"/>
                </a:solidFill>
                <a:latin typeface="Calibri" pitchFamily="34" charset="0"/>
                <a:ea typeface="Calibri" pitchFamily="34" charset="-122"/>
                <a:cs typeface="Calibri" pitchFamily="34" charset="-120"/>
              </a:rPr>
              <a:t>  → €1.0 m is spent in Germany</a:t>
            </a:r>
            <a:endParaRPr lang="en-US" sz="1150" dirty="0"/>
          </a:p>
          <a:p>
            <a:pPr indent="0" marL="0">
              <a:buNone/>
            </a:pPr>
            <a:r>
              <a:rPr lang="en-US" sz="500" dirty="0">
                <a:solidFill>
                  <a:srgbClr val="22303F"/>
                </a:solidFill>
                <a:latin typeface="Calibri" pitchFamily="34" charset="0"/>
                <a:ea typeface="Calibri" pitchFamily="34" charset="-122"/>
                <a:cs typeface="Calibri" pitchFamily="34" charset="-120"/>
              </a:rPr>
              <a:t> </a:t>
            </a:r>
            <a:endParaRPr lang="en-US" sz="1150" dirty="0"/>
          </a:p>
          <a:p>
            <a:pPr indent="0" marL="0">
              <a:buNone/>
            </a:pPr>
            <a:r>
              <a:rPr lang="en-US" sz="1150" i="1" dirty="0">
                <a:solidFill>
                  <a:srgbClr val="5F6B7A"/>
                </a:solidFill>
                <a:latin typeface="Calibri" pitchFamily="34" charset="0"/>
                <a:ea typeface="Calibri" pitchFamily="34" charset="-122"/>
                <a:cs typeface="Calibri" pitchFamily="34" charset="-120"/>
              </a:rPr>
              <a:t>Repeated for every cell on both sides, this gives the €6 bn each way.</a:t>
            </a:r>
            <a:endParaRPr lang="en-US" sz="1150" dirty="0"/>
          </a:p>
        </p:txBody>
      </p:sp>
      <p:sp>
        <p:nvSpPr>
          <p:cNvPr id="34" name="Text 32"/>
          <p:cNvSpPr/>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Model type: Huff spatial interaction model (Huff, 1963), standard in retail location studies. Illustrative example with round shares; €3,475 is the Eurostat 2024 figure for France.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2 · DATA SOURCES</a:t>
            </a:r>
            <a:endParaRPr lang="en-US" sz="1100" dirty="0"/>
          </a:p>
        </p:txBody>
      </p:sp>
      <p:sp>
        <p:nvSpPr>
          <p:cNvPr id="3" name="Text 1"/>
          <p:cNvSpPr/>
          <p:nvPr/>
        </p:nvSpPr>
        <p:spPr>
          <a:xfrm>
            <a:off x="548640" y="621792"/>
            <a:ext cx="11064240" cy="868680"/>
          </a:xfrm>
          <a:prstGeom prst="rect">
            <a:avLst/>
          </a:prstGeom>
          <a:noFill/>
          <a:ln/>
        </p:spPr>
        <p:txBody>
          <a:bodyPr wrap="square" lIns="0" tIns="0" rIns="0" bIns="0" rtlCol="0" anchor="t"/>
          <a:lstStyle/>
          <a:p>
            <a:pPr indent="0" marL="0">
              <a:buNone/>
            </a:pPr>
            <a:r>
              <a:rPr lang="en-US" sz="2600" b="1" dirty="0">
                <a:solidFill>
                  <a:srgbClr val="1B2A4A"/>
                </a:solidFill>
                <a:latin typeface="Cambria" pitchFamily="34" charset="0"/>
                <a:ea typeface="Cambria" pitchFamily="34" charset="-122"/>
                <a:cs typeface="Cambria" pitchFamily="34" charset="-120"/>
              </a:rPr>
              <a:t>All inputs are public, official or open data; nothing is measured directly on cross-border purchases</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920240"/>
                <a:gridCol w="4754880"/>
                <a:gridCol w="822960"/>
                <a:gridCol w="3566160"/>
              </a:tblGrid>
              <a:tr h="44805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Year</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Used for</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Residents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Eurostat / GISCO, 1 km population grid (2021 census)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Who shops and where they live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Spending per person</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Eurostat, prc_ppp_ind, expenditure per inhabitant (food, alcohol and tobacco, clothing, furnishing)</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Household budgets by country</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Price levels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Eurostat, prc_ppp_ind, price level indices (EU27 = 100)</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Price effect: France 116 vs Germany 102, Spain 93, Switzerland 154 (everyday goods)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Shops and retail zones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OpenStreetMap, via the Overpass API (shop tags, retail land use, brands)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Destinations, their size, chains vs independents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Road network</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OpenStreetMap roads (motorway to secondary)</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2026</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Driving times, cell to destination</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Borders and regions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Eurostat / GISCO, countries 2020, NUTS 2024, communes (LAU) 2024</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2020–24</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Geography, results by département</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Tobacco (calibration)</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DGDDI monthly deliveries; INSEE (Hillion and Monchâtre, 2024) on the 2020 closure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2019–20</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Fitting the tobacco model on observed data</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Fuel (test)</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SDES (DiDo), petroleum sales by département and month</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2019–20</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Testing the same approach for fuel</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r h="448056">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Retail structure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INSEE BPE 2025; URSSAF employment by commune and activity (NAF 47)</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2012–25</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Profile of retail in border areas (section 2.2)</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r>
            </a:tbl>
          </a:graphicData>
        </a:graphic>
      </p:graphicFrame>
      <p:sp>
        <p:nvSpPr>
          <p:cNvPr id="5" name="Text 2"/>
          <p:cNvSpPr/>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Not used, because not available: card payment data, customs data on individual purchases, surveys of cross-border shoppers. These are the sources that would allow the results to be validated.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3 · KEY ASSUMPTIONS</a:t>
            </a:r>
            <a:endParaRPr lang="en-US" sz="1100" dirty="0"/>
          </a:p>
        </p:txBody>
      </p:sp>
      <p:sp>
        <p:nvSpPr>
          <p:cNvPr id="3" name="Text 1"/>
          <p:cNvSpPr/>
          <p:nvPr/>
        </p:nvSpPr>
        <p:spPr>
          <a:xfrm>
            <a:off x="548640" y="621792"/>
            <a:ext cx="11064240" cy="868680"/>
          </a:xfrm>
          <a:prstGeom prst="rect">
            <a:avLst/>
          </a:prstGeom>
          <a:noFill/>
          <a:ln/>
        </p:spPr>
        <p:txBody>
          <a:bodyPr wrap="square" lIns="0" tIns="0" rIns="0" bIns="0" rtlCol="0" anchor="t"/>
          <a:lstStyle/>
          <a:p>
            <a:pPr indent="0" marL="0">
              <a:buNone/>
            </a:pPr>
            <a:r>
              <a:rPr lang="en-US" sz="2600" b="1" dirty="0">
                <a:solidFill>
                  <a:srgbClr val="1B2A4A"/>
                </a:solidFill>
                <a:latin typeface="Cambria" pitchFamily="34" charset="0"/>
                <a:ea typeface="Cambria" pitchFamily="34" charset="-122"/>
                <a:cs typeface="Cambria" pitchFamily="34" charset="-120"/>
              </a:rPr>
              <a:t>Three settings drive the results; they are set from the literature, not fitted to cross-border data</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920240"/>
                <a:gridCol w="2834640"/>
                <a:gridCol w="3749040"/>
                <a:gridCol w="2560320"/>
              </a:tblGrid>
              <a:tr h="5303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 used</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Effect on results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r>
              <a:tr h="530352">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Border penalty (θ)</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0.55 (Switzerland, Andorra 0.40; Monaco 0.90)</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A shop across the border is worth about half of the same shop at home (language, habits, customs)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Strong: flows scale almost in proportion</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0504D"/>
                    </a:solidFill>
                  </a:tcPr>
                </a:tc>
              </a:tr>
              <a:tr h="530352">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Price sensitivity (γ)</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2 (tested 0, 2, 3)</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A country 10% cheaper is about 20–25% more attractive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Medium: decides the Swiss balance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98A1B"/>
                    </a:solidFill>
                  </a:tcPr>
                </a:tc>
              </a:tr>
              <a:tr h="530352">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Distance decay (β)</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0.12 per minute (everyday), 0.06 (comparison)</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Everyday attraction halves every ~6 min of driving; comparison every ~12 min</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Medium: shapes the reach</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98A1B"/>
                    </a:solidFill>
                  </a:tcPr>
                </a:tc>
              </a:tr>
              <a:tr h="530352">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Shop size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Shop count; supermarket = 4, mall or department store = 20</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Proxy for floor space, which is not available across countries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Low to medium</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3A7D44"/>
                    </a:solidFill>
                  </a:tcPr>
                </a:tc>
              </a:tr>
              <a:tr h="530352">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Study area</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Residents within 40 km; shops within 70 km; trips up to 75 min</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200" dirty="0">
                          <a:solidFill>
                            <a:srgbClr val="22303F"/>
                          </a:solidFill>
                          <a:latin typeface="Calibri" pitchFamily="34" charset="0"/>
                          <a:ea typeface="Calibri" pitchFamily="34" charset="-122"/>
                          <a:cs typeface="Calibri" pitchFamily="34" charset="-120"/>
                        </a:rPr>
                        <a:t>Captures regular shopping trips, not longer excursions</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Low: stated scope</a:t>
                      </a:r>
                      <a:endParaRPr lang="en-US" sz="12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3A7D44"/>
                    </a:solidFill>
                  </a:tcPr>
                </a:tc>
              </a:tr>
            </a:tbl>
          </a:graphicData>
        </a:graphic>
      </p:graphicFrame>
      <p:sp>
        <p:nvSpPr>
          <p:cNvPr id="5" name="Shape 2"/>
          <p:cNvSpPr/>
          <p:nvPr/>
        </p:nvSpPr>
        <p:spPr>
          <a:xfrm>
            <a:off x="548640" y="5074920"/>
            <a:ext cx="11064240" cy="1188720"/>
          </a:xfrm>
          <a:prstGeom prst="rect">
            <a:avLst/>
          </a:prstGeom>
          <a:solidFill>
            <a:srgbClr val="EEF2F7"/>
          </a:solidFill>
          <a:ln w="12700">
            <a:solidFill>
              <a:srgbClr val="EEF2F7"/>
            </a:solidFill>
            <a:prstDash val="solid"/>
          </a:ln>
        </p:spPr>
      </p:sp>
      <p:sp>
        <p:nvSpPr>
          <p:cNvPr id="6" name="Text 3"/>
          <p:cNvSpPr/>
          <p:nvPr/>
        </p:nvSpPr>
        <p:spPr>
          <a:xfrm>
            <a:off x="731520" y="5166360"/>
            <a:ext cx="10698480" cy="100584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How we handled it: </a:t>
            </a:r>
            <a:pPr indent="0" marL="0">
              <a:buNone/>
            </a:pPr>
            <a:r>
              <a:rPr lang="en-US" sz="1200" dirty="0">
                <a:solidFill>
                  <a:srgbClr val="22303F"/>
                </a:solidFill>
                <a:latin typeface="Calibri" pitchFamily="34" charset="0"/>
                <a:ea typeface="Calibri" pitchFamily="34" charset="-122"/>
                <a:cs typeface="Calibri" pitchFamily="34" charset="-120"/>
              </a:rPr>
              <a:t>the model was re-run 15 times with the border penalty from ×0.5 to ×1.6 and price sensitivity at 0, 2 and 3. Results are reported as a central value with the range across these runs. Only tobacco was fitted to observed data (2020 closure); for tobacco, the fitted distance decay is much weaker: attraction halves only after about an hour.</a:t>
            </a:r>
            <a:endParaRPr lang="en-US" sz="1200" dirty="0"/>
          </a:p>
        </p:txBody>
      </p:sp>
      <p:sp>
        <p:nvSpPr>
          <p:cNvPr id="7" name="Text 4"/>
          <p:cNvSpPr/>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Settings in cbattr/config.py; sensitivity runs in outputs/sensitivity.csv; tobacco calibration in outputs/excise_parameters.csv.</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4 · HOW FAR TO TRUST EACH RESULT</a:t>
            </a:r>
            <a:endParaRPr lang="en-US" sz="1100" dirty="0"/>
          </a:p>
        </p:txBody>
      </p:sp>
      <p:sp>
        <p:nvSpPr>
          <p:cNvPr id="3" name="Text 1"/>
          <p:cNvSpPr/>
          <p:nvPr/>
        </p:nvSpPr>
        <p:spPr>
          <a:xfrm>
            <a:off x="548640" y="621792"/>
            <a:ext cx="11064240" cy="868680"/>
          </a:xfrm>
          <a:prstGeom prst="rect">
            <a:avLst/>
          </a:prstGeom>
          <a:noFill/>
          <a:ln/>
        </p:spPr>
        <p:txBody>
          <a:bodyPr wrap="square" lIns="0" tIns="0" rIns="0" bIns="0" rtlCol="0" anchor="t"/>
          <a:lstStyle/>
          <a:p>
            <a:pPr indent="0" marL="0">
              <a:buNone/>
            </a:pPr>
            <a:r>
              <a:rPr lang="en-US" sz="2600" b="1" dirty="0">
                <a:solidFill>
                  <a:srgbClr val="1B2A4A"/>
                </a:solidFill>
                <a:latin typeface="Cambria" pitchFamily="34" charset="0"/>
                <a:ea typeface="Cambria" pitchFamily="34" charset="-122"/>
                <a:cs typeface="Cambria" pitchFamily="34" charset="-120"/>
              </a:rPr>
              <a:t>Directions are robust; amounts are orders of magnitude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931920"/>
                <a:gridCol w="2377440"/>
                <a:gridCol w="3017520"/>
                <a:gridCol w="173736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Central estimate</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Range across 15 runs</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Confidence</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1B2A4A"/>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France loses spending to Germany</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−€840 m a year</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−€0.6 to −1.2 bn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Robust direction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3A7D44"/>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France loses spending to Spain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−€450 m</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−€0.3 to −0.7 bn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Robust direction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3A7D44"/>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France gains from Belgium</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+€380 m</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+€0.2 to +0.4 bn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Robust direction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3A7D44"/>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France gains from Switzerland</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+€620 m</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+€0.3 to +1.7 bn; negative if prices ignored</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Price-driven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98A1B"/>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Flows are roughly balanced overall</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€6.1 bn out, €6.0 bn in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€3.6 to 8.5 bn each way</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Order of magnitude</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98A1B"/>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Chains lose more than independent SMEs</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Chains −€150 m; SMEs ≈ 0</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Chains −€100 to −160 m; SMEs −€60 to +80 m</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Robust for chains</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3A7D44"/>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Tobacco bought abroad: 9.1% of French consumption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Fitted on 2020 closure</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INSEE 9.5%, KPMG 11.9%</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Calibrated</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3A7D44"/>
                    </a:solidFill>
                  </a:tcPr>
                </a:tc>
              </a:tr>
              <a:tr h="502920">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Luxembourg balance; results for one town</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+€100 m</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indent="0" marL="0">
                        <a:buNone/>
                      </a:pPr>
                      <a:r>
                        <a:rPr lang="en-US" sz="1300" dirty="0">
                          <a:solidFill>
                            <a:srgbClr val="22303F"/>
                          </a:solidFill>
                          <a:latin typeface="Calibri" pitchFamily="34" charset="0"/>
                          <a:ea typeface="Calibri" pitchFamily="34" charset="-122"/>
                          <a:cs typeface="Calibri" pitchFamily="34" charset="-120"/>
                        </a:rPr>
                        <a:t>Commuters not modelled</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 not quote</a:t>
                      </a:r>
                      <a:endParaRPr lang="en-US" sz="1300" dirty="0">
                        <a:latin typeface="Calibri" charset="0"/>
                        <a:ea typeface="Calibri" charset="0"/>
                        <a:cs typeface="Calibri" charset="0"/>
                      </a:endParaRPr>
                    </a:p>
                  </a:txBody>
                  <a:tcPr marL="76200" marR="76200" marT="38100" marB="3810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0504D"/>
                    </a:solidFill>
                  </a:tcPr>
                </a:tc>
              </a:tr>
            </a:tbl>
          </a:graphicData>
        </a:graphic>
      </p:graphicFrame>
      <p:sp>
        <p:nvSpPr>
          <p:cNvPr id="5" name="Text 2"/>
          <p:cNvSpPr/>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Net = spending by neighbours' residents in France minus spending by French residents abroad, everyday and comparison goods, excluding fuel. Range: border penalty ×0.5 to ×1.6, price sensitivity 2 to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5 · LIMITS AND NEXT STEPS</a:t>
            </a:r>
            <a:endParaRPr lang="en-US" sz="1100" dirty="0"/>
          </a:p>
        </p:txBody>
      </p:sp>
      <p:sp>
        <p:nvSpPr>
          <p:cNvPr id="3" name="Text 1"/>
          <p:cNvSpPr/>
          <p:nvPr/>
        </p:nvSpPr>
        <p:spPr>
          <a:xfrm>
            <a:off x="548640" y="621792"/>
            <a:ext cx="11064240" cy="868680"/>
          </a:xfrm>
          <a:prstGeom prst="rect">
            <a:avLst/>
          </a:prstGeom>
          <a:noFill/>
          <a:ln/>
        </p:spPr>
        <p:txBody>
          <a:bodyPr wrap="square" lIns="0" tIns="0" rIns="0" bIns="0" rtlCol="0" anchor="t"/>
          <a:lstStyle/>
          <a:p>
            <a:pPr indent="0" marL="0">
              <a:buNone/>
            </a:pPr>
            <a:r>
              <a:rPr lang="en-US" sz="2600" b="1" dirty="0">
                <a:solidFill>
                  <a:srgbClr val="1B2A4A"/>
                </a:solidFill>
                <a:latin typeface="Cambria" pitchFamily="34" charset="0"/>
                <a:ea typeface="Cambria" pitchFamily="34" charset="-122"/>
                <a:cs typeface="Cambria" pitchFamily="34" charset="-120"/>
              </a:rPr>
              <a:t>What the model leaves out, and how to validate it before publication</a:t>
            </a:r>
            <a:endParaRPr lang="en-US" sz="2600" dirty="0"/>
          </a:p>
        </p:txBody>
      </p:sp>
      <p:sp>
        <p:nvSpPr>
          <p:cNvPr id="4" name="Shape 2"/>
          <p:cNvSpPr/>
          <p:nvPr/>
        </p:nvSpPr>
        <p:spPr>
          <a:xfrm>
            <a:off x="548640" y="1691640"/>
            <a:ext cx="73152" cy="731520"/>
          </a:xfrm>
          <a:prstGeom prst="rect">
            <a:avLst/>
          </a:prstGeom>
          <a:solidFill>
            <a:srgbClr val="C0504D"/>
          </a:solidFill>
          <a:ln w="12700">
            <a:solidFill>
              <a:srgbClr val="C0504D"/>
            </a:solidFill>
            <a:prstDash val="solid"/>
          </a:ln>
        </p:spPr>
      </p:sp>
      <p:sp>
        <p:nvSpPr>
          <p:cNvPr id="5" name="Text 3"/>
          <p:cNvSpPr/>
          <p:nvPr/>
        </p:nvSpPr>
        <p:spPr>
          <a:xfrm>
            <a:off x="777240" y="1691640"/>
            <a:ext cx="512064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Not observed spending</a:t>
            </a:r>
            <a:endParaRPr lang="en-US" sz="1400" dirty="0"/>
          </a:p>
        </p:txBody>
      </p:sp>
      <p:sp>
        <p:nvSpPr>
          <p:cNvPr id="6" name="Text 4"/>
          <p:cNvSpPr/>
          <p:nvPr/>
        </p:nvSpPr>
        <p:spPr>
          <a:xfrm>
            <a:off x="777240" y="2002536"/>
            <a:ext cx="5120640" cy="457200"/>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Outputs are expected values from probabilities, not measured purchases.</a:t>
            </a:r>
            <a:endParaRPr lang="en-US" sz="1150" dirty="0"/>
          </a:p>
        </p:txBody>
      </p:sp>
      <p:sp>
        <p:nvSpPr>
          <p:cNvPr id="7" name="Shape 5"/>
          <p:cNvSpPr/>
          <p:nvPr/>
        </p:nvSpPr>
        <p:spPr>
          <a:xfrm>
            <a:off x="548640" y="2587752"/>
            <a:ext cx="73152" cy="731520"/>
          </a:xfrm>
          <a:prstGeom prst="rect">
            <a:avLst/>
          </a:prstGeom>
          <a:solidFill>
            <a:srgbClr val="C0504D"/>
          </a:solidFill>
          <a:ln w="12700">
            <a:solidFill>
              <a:srgbClr val="C0504D"/>
            </a:solidFill>
            <a:prstDash val="solid"/>
          </a:ln>
        </p:spPr>
      </p:sp>
      <p:sp>
        <p:nvSpPr>
          <p:cNvPr id="8" name="Text 6"/>
          <p:cNvSpPr/>
          <p:nvPr/>
        </p:nvSpPr>
        <p:spPr>
          <a:xfrm>
            <a:off x="777240" y="2587752"/>
            <a:ext cx="512064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Commuters and tourists missing</a:t>
            </a:r>
            <a:endParaRPr lang="en-US" sz="1400" dirty="0"/>
          </a:p>
        </p:txBody>
      </p:sp>
      <p:sp>
        <p:nvSpPr>
          <p:cNvPr id="9" name="Text 7"/>
          <p:cNvSpPr/>
          <p:nvPr/>
        </p:nvSpPr>
        <p:spPr>
          <a:xfrm>
            <a:off x="777240" y="2898648"/>
            <a:ext cx="5120640" cy="457200"/>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Trips start from home only; frontaliers shopping near work (Luxembourg, Geneva, Basel) are not captured.</a:t>
            </a:r>
            <a:endParaRPr lang="en-US" sz="1150" dirty="0"/>
          </a:p>
        </p:txBody>
      </p:sp>
      <p:sp>
        <p:nvSpPr>
          <p:cNvPr id="10" name="Shape 8"/>
          <p:cNvSpPr/>
          <p:nvPr/>
        </p:nvSpPr>
        <p:spPr>
          <a:xfrm>
            <a:off x="548640" y="3483864"/>
            <a:ext cx="73152" cy="731520"/>
          </a:xfrm>
          <a:prstGeom prst="rect">
            <a:avLst/>
          </a:prstGeom>
          <a:solidFill>
            <a:srgbClr val="C0504D"/>
          </a:solidFill>
          <a:ln w="12700">
            <a:solidFill>
              <a:srgbClr val="C0504D"/>
            </a:solidFill>
            <a:prstDash val="solid"/>
          </a:ln>
        </p:spPr>
      </p:sp>
      <p:sp>
        <p:nvSpPr>
          <p:cNvPr id="11" name="Text 9"/>
          <p:cNvSpPr/>
          <p:nvPr/>
        </p:nvSpPr>
        <p:spPr>
          <a:xfrm>
            <a:off x="777240" y="3483864"/>
            <a:ext cx="512064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Fuel and online excluded</a:t>
            </a:r>
            <a:endParaRPr lang="en-US" sz="1400" dirty="0"/>
          </a:p>
        </p:txBody>
      </p:sp>
      <p:sp>
        <p:nvSpPr>
          <p:cNvPr id="12" name="Text 10"/>
          <p:cNvSpPr/>
          <p:nvPr/>
        </p:nvSpPr>
        <p:spPr>
          <a:xfrm>
            <a:off x="777240" y="3794760"/>
            <a:ext cx="5120640" cy="457200"/>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Fuel could not be calibrated: sales by département are only annual. Online purchases are outside the model.</a:t>
            </a:r>
            <a:endParaRPr lang="en-US" sz="1150" dirty="0"/>
          </a:p>
        </p:txBody>
      </p:sp>
      <p:sp>
        <p:nvSpPr>
          <p:cNvPr id="13" name="Shape 11"/>
          <p:cNvSpPr/>
          <p:nvPr/>
        </p:nvSpPr>
        <p:spPr>
          <a:xfrm>
            <a:off x="548640" y="4379976"/>
            <a:ext cx="73152" cy="731520"/>
          </a:xfrm>
          <a:prstGeom prst="rect">
            <a:avLst/>
          </a:prstGeom>
          <a:solidFill>
            <a:srgbClr val="C0504D"/>
          </a:solidFill>
          <a:ln w="12700">
            <a:solidFill>
              <a:srgbClr val="C0504D"/>
            </a:solidFill>
            <a:prstDash val="solid"/>
          </a:ln>
        </p:spPr>
      </p:sp>
      <p:sp>
        <p:nvSpPr>
          <p:cNvPr id="14" name="Text 12"/>
          <p:cNvSpPr/>
          <p:nvPr/>
        </p:nvSpPr>
        <p:spPr>
          <a:xfrm>
            <a:off x="777240" y="4379976"/>
            <a:ext cx="512064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Shop counts, not turnover</a:t>
            </a:r>
            <a:endParaRPr lang="en-US" sz="1400" dirty="0"/>
          </a:p>
        </p:txBody>
      </p:sp>
      <p:sp>
        <p:nvSpPr>
          <p:cNvPr id="15" name="Text 13"/>
          <p:cNvSpPr/>
          <p:nvPr/>
        </p:nvSpPr>
        <p:spPr>
          <a:xfrm>
            <a:off x="777240" y="4690872"/>
            <a:ext cx="5120640" cy="457200"/>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OpenStreetMap measures presence, not floor space or sales; coverage is uneven in Spain and Italy.</a:t>
            </a:r>
            <a:endParaRPr lang="en-US" sz="1150" dirty="0"/>
          </a:p>
        </p:txBody>
      </p:sp>
      <p:sp>
        <p:nvSpPr>
          <p:cNvPr id="16" name="Shape 14"/>
          <p:cNvSpPr/>
          <p:nvPr/>
        </p:nvSpPr>
        <p:spPr>
          <a:xfrm>
            <a:off x="548640" y="5276088"/>
            <a:ext cx="73152" cy="731520"/>
          </a:xfrm>
          <a:prstGeom prst="rect">
            <a:avLst/>
          </a:prstGeom>
          <a:solidFill>
            <a:srgbClr val="C0504D"/>
          </a:solidFill>
          <a:ln w="12700">
            <a:solidFill>
              <a:srgbClr val="C0504D"/>
            </a:solidFill>
            <a:prstDash val="solid"/>
          </a:ln>
        </p:spPr>
      </p:sp>
      <p:sp>
        <p:nvSpPr>
          <p:cNvPr id="17" name="Text 15"/>
          <p:cNvSpPr/>
          <p:nvPr/>
        </p:nvSpPr>
        <p:spPr>
          <a:xfrm>
            <a:off x="777240" y="5276088"/>
            <a:ext cx="512064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Chains vs SMEs by proxy</a:t>
            </a:r>
            <a:endParaRPr lang="en-US" sz="1400" dirty="0"/>
          </a:p>
        </p:txBody>
      </p:sp>
      <p:sp>
        <p:nvSpPr>
          <p:cNvPr id="18" name="Text 16"/>
          <p:cNvSpPr/>
          <p:nvPr/>
        </p:nvSpPr>
        <p:spPr>
          <a:xfrm>
            <a:off x="777240" y="5586984"/>
            <a:ext cx="5120640" cy="457200"/>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A shop tagged with a brand counts as a chain (franchises included); an untagged shop counts as independent.</a:t>
            </a:r>
            <a:endParaRPr lang="en-US" sz="1150" dirty="0"/>
          </a:p>
        </p:txBody>
      </p:sp>
      <p:sp>
        <p:nvSpPr>
          <p:cNvPr id="19" name="Shape 17"/>
          <p:cNvSpPr/>
          <p:nvPr/>
        </p:nvSpPr>
        <p:spPr>
          <a:xfrm>
            <a:off x="6309360" y="1691640"/>
            <a:ext cx="5303520" cy="4480560"/>
          </a:xfrm>
          <a:prstGeom prst="rect">
            <a:avLst/>
          </a:prstGeom>
          <a:solidFill>
            <a:srgbClr val="1B2A4A"/>
          </a:solidFill>
          <a:ln w="12700">
            <a:solidFill>
              <a:srgbClr val="1B2A4A"/>
            </a:solidFill>
            <a:prstDash val="solid"/>
          </a:ln>
        </p:spPr>
      </p:sp>
      <p:sp>
        <p:nvSpPr>
          <p:cNvPr id="20" name="Text 18"/>
          <p:cNvSpPr/>
          <p:nvPr/>
        </p:nvSpPr>
        <p:spPr>
          <a:xfrm>
            <a:off x="6537960" y="1828800"/>
            <a:ext cx="48463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To validate before publication</a:t>
            </a:r>
            <a:endParaRPr lang="en-US" sz="1600" dirty="0"/>
          </a:p>
        </p:txBody>
      </p:sp>
      <p:sp>
        <p:nvSpPr>
          <p:cNvPr id="21" name="Text 19"/>
          <p:cNvSpPr/>
          <p:nvPr/>
        </p:nvSpPr>
        <p:spPr>
          <a:xfrm>
            <a:off x="6537960" y="2331720"/>
            <a:ext cx="4892040" cy="3749040"/>
          </a:xfrm>
          <a:prstGeom prst="rect">
            <a:avLst/>
          </a:prstGeom>
          <a:noFill/>
          <a:ln/>
        </p:spPr>
        <p:txBody>
          <a:bodyPr wrap="square" lIns="0" tIns="0" rIns="0" bIns="0" rtlCol="0" anchor="t"/>
          <a:lstStyle/>
          <a:p>
            <a:pPr indent="0" marL="0">
              <a:buNone/>
            </a:pPr>
            <a:r>
              <a:rPr lang="en-US" sz="1400" b="1" dirty="0">
                <a:solidFill>
                  <a:srgbClr val="A9CBE8"/>
                </a:solidFill>
                <a:latin typeface="Calibri" pitchFamily="34" charset="0"/>
                <a:ea typeface="Calibri" pitchFamily="34" charset="-122"/>
                <a:cs typeface="Calibri" pitchFamily="34" charset="-120"/>
              </a:rPr>
              <a:t>Banque de France: </a:t>
            </a:r>
            <a:pPr indent="0" marL="0">
              <a:buNone/>
            </a:pPr>
            <a:r>
              <a:rPr lang="en-US" sz="1400" dirty="0">
                <a:solidFill>
                  <a:srgbClr val="FFFFFF"/>
                </a:solidFill>
                <a:latin typeface="Calibri" pitchFamily="34" charset="0"/>
                <a:ea typeface="Calibri" pitchFamily="34" charset="-122"/>
                <a:cs typeface="Calibri" pitchFamily="34" charset="-120"/>
              </a:rPr>
              <a:t>'travel' line of the balance of payments with Switzerland, Germany and Spain.</a:t>
            </a:r>
            <a:endParaRPr lang="en-US" sz="14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A9CBE8"/>
                </a:solidFill>
                <a:latin typeface="Calibri" pitchFamily="34" charset="0"/>
                <a:ea typeface="Calibri" pitchFamily="34" charset="-122"/>
                <a:cs typeface="Calibri" pitchFamily="34" charset="-120"/>
              </a:rPr>
              <a:t>Card payment data: </a:t>
            </a:r>
            <a:pPr indent="0" marL="0">
              <a:buNone/>
            </a:pPr>
            <a:r>
              <a:rPr lang="en-US" sz="1400" dirty="0">
                <a:solidFill>
                  <a:srgbClr val="FFFFFF"/>
                </a:solidFill>
                <a:latin typeface="Calibri" pitchFamily="34" charset="0"/>
                <a:ea typeface="Calibri" pitchFamily="34" charset="-122"/>
                <a:cs typeface="Calibri" pitchFamily="34" charset="-120"/>
              </a:rPr>
              <a:t>regional banks (e.g. Crédit Mutuel in Alsace) or Cartes Bancaires, spending by residents abroad and by foreign cards in France.</a:t>
            </a:r>
            <a:endParaRPr lang="en-US" sz="14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A9CBE8"/>
                </a:solidFill>
                <a:latin typeface="Calibri" pitchFamily="34" charset="0"/>
                <a:ea typeface="Calibri" pitchFamily="34" charset="-122"/>
                <a:cs typeface="Calibri" pitchFamily="34" charset="-120"/>
              </a:rPr>
              <a:t>Local surveys: </a:t>
            </a:r>
            <a:pPr indent="0" marL="0">
              <a:buNone/>
            </a:pPr>
            <a:r>
              <a:rPr lang="en-US" sz="1400" dirty="0">
                <a:solidFill>
                  <a:srgbClr val="FFFFFF"/>
                </a:solidFill>
                <a:latin typeface="Calibri" pitchFamily="34" charset="0"/>
                <a:ea typeface="Calibri" pitchFamily="34" charset="-122"/>
                <a:cs typeface="Calibri" pitchFamily="34" charset="-120"/>
              </a:rPr>
              <a:t>CCI Grand Est, INSEE studies on frontaliers.</a:t>
            </a:r>
            <a:endParaRPr lang="en-US" sz="14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i="1" dirty="0">
                <a:solidFill>
                  <a:srgbClr val="FFFFFF"/>
                </a:solidFill>
                <a:latin typeface="Calibri" pitchFamily="34" charset="0"/>
                <a:ea typeface="Calibri" pitchFamily="34" charset="-122"/>
                <a:cs typeface="Calibri" pitchFamily="34" charset="-120"/>
              </a:rPr>
              <a:t>If direction and scale match on one border, the report can state that the model is consistent with observed data.</a:t>
            </a:r>
            <a:endParaRPr lang="en-US" sz="1400" dirty="0"/>
          </a:p>
        </p:txBody>
      </p:sp>
      <p:sp>
        <p:nvSpPr>
          <p:cNvPr id="22" name="Text 20"/>
          <p:cNvSpPr/>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The report recommends an official measure of cross-border spending (as in Norway's quarterly survey or Germany's empty-pack survey for tobacco) and monthly tobacco and fuel sales by département.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BACKUP · LIKELY QUESTIONS</a:t>
            </a:r>
            <a:endParaRPr lang="en-US" sz="1100" dirty="0"/>
          </a:p>
        </p:txBody>
      </p:sp>
      <p:sp>
        <p:nvSpPr>
          <p:cNvPr id="3" name="Text 1"/>
          <p:cNvSpPr/>
          <p:nvPr/>
        </p:nvSpPr>
        <p:spPr>
          <a:xfrm>
            <a:off x="548640" y="621792"/>
            <a:ext cx="11064240" cy="868680"/>
          </a:xfrm>
          <a:prstGeom prst="rect">
            <a:avLst/>
          </a:prstGeom>
          <a:noFill/>
          <a:ln/>
        </p:spPr>
        <p:txBody>
          <a:bodyPr wrap="square" lIns="0" tIns="0" rIns="0" bIns="0" rtlCol="0" anchor="t"/>
          <a:lstStyle/>
          <a:p>
            <a:pPr indent="0" marL="0">
              <a:buNone/>
            </a:pPr>
            <a:r>
              <a:rPr lang="en-US" sz="2600" b="1" dirty="0">
                <a:solidFill>
                  <a:srgbClr val="1B2A4A"/>
                </a:solidFill>
                <a:latin typeface="Cambria" pitchFamily="34" charset="0"/>
                <a:ea typeface="Cambria" pitchFamily="34" charset="-122"/>
                <a:cs typeface="Cambria" pitchFamily="34" charset="-120"/>
              </a:rPr>
              <a:t>Short answers to the questions most likely to come up</a:t>
            </a:r>
            <a:endParaRPr lang="en-US" sz="2600" dirty="0"/>
          </a:p>
        </p:txBody>
      </p:sp>
      <p:sp>
        <p:nvSpPr>
          <p:cNvPr id="4" name="Shape 2"/>
          <p:cNvSpPr/>
          <p:nvPr/>
        </p:nvSpPr>
        <p:spPr>
          <a:xfrm>
            <a:off x="548640" y="1691640"/>
            <a:ext cx="5440680" cy="1005840"/>
          </a:xfrm>
          <a:prstGeom prst="rect">
            <a:avLst/>
          </a:prstGeom>
          <a:solidFill>
            <a:srgbClr val="EEF2F7"/>
          </a:solidFill>
          <a:ln w="12700">
            <a:solidFill>
              <a:srgbClr val="EEF2F7"/>
            </a:solidFill>
            <a:prstDash val="solid"/>
          </a:ln>
        </p:spPr>
      </p:sp>
      <p:sp>
        <p:nvSpPr>
          <p:cNvPr id="5" name="Text 3"/>
          <p:cNvSpPr/>
          <p:nvPr/>
        </p:nvSpPr>
        <p:spPr>
          <a:xfrm>
            <a:off x="731520" y="1783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Are these real figures?</a:t>
            </a:r>
            <a:endParaRPr lang="en-US" sz="1250" dirty="0"/>
          </a:p>
        </p:txBody>
      </p:sp>
      <p:sp>
        <p:nvSpPr>
          <p:cNvPr id="6" name="Text 4"/>
          <p:cNvSpPr/>
          <p:nvPr/>
        </p:nvSpPr>
        <p:spPr>
          <a:xfrm>
            <a:off x="731520" y="2084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No. They are model estimates (expected values). Only the tobacco share is fitted to observed data.</a:t>
            </a:r>
            <a:endParaRPr lang="en-US" sz="1150" dirty="0"/>
          </a:p>
        </p:txBody>
      </p:sp>
      <p:sp>
        <p:nvSpPr>
          <p:cNvPr id="7" name="Shape 5"/>
          <p:cNvSpPr/>
          <p:nvPr/>
        </p:nvSpPr>
        <p:spPr>
          <a:xfrm>
            <a:off x="6172200" y="1691640"/>
            <a:ext cx="5440680" cy="1005840"/>
          </a:xfrm>
          <a:prstGeom prst="rect">
            <a:avLst/>
          </a:prstGeom>
          <a:solidFill>
            <a:srgbClr val="EEF2F7"/>
          </a:solidFill>
          <a:ln w="12700">
            <a:solidFill>
              <a:srgbClr val="EEF2F7"/>
            </a:solidFill>
            <a:prstDash val="solid"/>
          </a:ln>
        </p:spPr>
      </p:sp>
      <p:sp>
        <p:nvSpPr>
          <p:cNvPr id="8" name="Text 6"/>
          <p:cNvSpPr/>
          <p:nvPr/>
        </p:nvSpPr>
        <p:spPr>
          <a:xfrm>
            <a:off x="6355080" y="1783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Why not use card data?</a:t>
            </a:r>
            <a:endParaRPr lang="en-US" sz="1250" dirty="0"/>
          </a:p>
        </p:txBody>
      </p:sp>
      <p:sp>
        <p:nvSpPr>
          <p:cNvPr id="9" name="Text 7"/>
          <p:cNvSpPr/>
          <p:nvPr/>
        </p:nvSpPr>
        <p:spPr>
          <a:xfrm>
            <a:off x="6355080" y="2084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Not publicly available; it is the best way to validate and is listed as a next step.</a:t>
            </a:r>
            <a:endParaRPr lang="en-US" sz="1150" dirty="0"/>
          </a:p>
        </p:txBody>
      </p:sp>
      <p:sp>
        <p:nvSpPr>
          <p:cNvPr id="10" name="Shape 8"/>
          <p:cNvSpPr/>
          <p:nvPr/>
        </p:nvSpPr>
        <p:spPr>
          <a:xfrm>
            <a:off x="548640" y="2834640"/>
            <a:ext cx="5440680" cy="1005840"/>
          </a:xfrm>
          <a:prstGeom prst="rect">
            <a:avLst/>
          </a:prstGeom>
          <a:solidFill>
            <a:srgbClr val="EEF2F7"/>
          </a:solidFill>
          <a:ln w="12700">
            <a:solidFill>
              <a:srgbClr val="EEF2F7"/>
            </a:solidFill>
            <a:prstDash val="solid"/>
          </a:ln>
        </p:spPr>
      </p:sp>
      <p:sp>
        <p:nvSpPr>
          <p:cNvPr id="11" name="Text 9"/>
          <p:cNvSpPr/>
          <p:nvPr/>
        </p:nvSpPr>
        <p:spPr>
          <a:xfrm>
            <a:off x="731520" y="2926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Why €6 bn and not a range?</a:t>
            </a:r>
            <a:endParaRPr lang="en-US" sz="1250" dirty="0"/>
          </a:p>
        </p:txBody>
      </p:sp>
      <p:sp>
        <p:nvSpPr>
          <p:cNvPr id="12" name="Text 10"/>
          <p:cNvSpPr/>
          <p:nvPr/>
        </p:nvSpPr>
        <p:spPr>
          <a:xfrm>
            <a:off x="731520" y="3227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€6 bn is the central run; the range is €3.6 to 8.5 bn. In the report: 'several billion euros each way'.</a:t>
            </a:r>
            <a:endParaRPr lang="en-US" sz="1150" dirty="0"/>
          </a:p>
        </p:txBody>
      </p:sp>
      <p:sp>
        <p:nvSpPr>
          <p:cNvPr id="13" name="Shape 11"/>
          <p:cNvSpPr/>
          <p:nvPr/>
        </p:nvSpPr>
        <p:spPr>
          <a:xfrm>
            <a:off x="6172200" y="2834640"/>
            <a:ext cx="5440680" cy="1005840"/>
          </a:xfrm>
          <a:prstGeom prst="rect">
            <a:avLst/>
          </a:prstGeom>
          <a:solidFill>
            <a:srgbClr val="EEF2F7"/>
          </a:solidFill>
          <a:ln w="12700">
            <a:solidFill>
              <a:srgbClr val="EEF2F7"/>
            </a:solidFill>
            <a:prstDash val="solid"/>
          </a:ln>
        </p:spPr>
      </p:sp>
      <p:sp>
        <p:nvSpPr>
          <p:cNvPr id="14" name="Text 12"/>
          <p:cNvSpPr/>
          <p:nvPr/>
        </p:nvSpPr>
        <p:spPr>
          <a:xfrm>
            <a:off x="6355080" y="2926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Why does France gain from Switzerland?</a:t>
            </a:r>
            <a:endParaRPr lang="en-US" sz="1250" dirty="0"/>
          </a:p>
        </p:txBody>
      </p:sp>
      <p:sp>
        <p:nvSpPr>
          <p:cNvPr id="15" name="Text 13"/>
          <p:cNvSpPr/>
          <p:nvPr/>
        </p:nvSpPr>
        <p:spPr>
          <a:xfrm>
            <a:off x="6355080" y="3227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Prices: Swiss everyday goods cost about a third more than French ones. Without the price effect, the surplus disappears.</a:t>
            </a:r>
            <a:endParaRPr lang="en-US" sz="1150" dirty="0"/>
          </a:p>
        </p:txBody>
      </p:sp>
      <p:sp>
        <p:nvSpPr>
          <p:cNvPr id="16" name="Shape 14"/>
          <p:cNvSpPr/>
          <p:nvPr/>
        </p:nvSpPr>
        <p:spPr>
          <a:xfrm>
            <a:off x="548640" y="3977640"/>
            <a:ext cx="5440680" cy="1005840"/>
          </a:xfrm>
          <a:prstGeom prst="rect">
            <a:avLst/>
          </a:prstGeom>
          <a:solidFill>
            <a:srgbClr val="EEF2F7"/>
          </a:solidFill>
          <a:ln w="12700">
            <a:solidFill>
              <a:srgbClr val="EEF2F7"/>
            </a:solidFill>
            <a:prstDash val="solid"/>
          </a:ln>
        </p:spPr>
      </p:sp>
      <p:sp>
        <p:nvSpPr>
          <p:cNvPr id="17" name="Text 15"/>
          <p:cNvSpPr/>
          <p:nvPr/>
        </p:nvSpPr>
        <p:spPr>
          <a:xfrm>
            <a:off x="731520" y="4069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Why does Germany win even without prices?</a:t>
            </a:r>
            <a:endParaRPr lang="en-US" sz="1250" dirty="0"/>
          </a:p>
        </p:txBody>
      </p:sp>
      <p:sp>
        <p:nvSpPr>
          <p:cNvPr id="18" name="Text 16"/>
          <p:cNvSpPr/>
          <p:nvPr/>
        </p:nvSpPr>
        <p:spPr>
          <a:xfrm>
            <a:off x="731520" y="4370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Large retail sites just across the border (Kehl, Saarbrücken) and good road access.</a:t>
            </a:r>
            <a:endParaRPr lang="en-US" sz="1150" dirty="0"/>
          </a:p>
        </p:txBody>
      </p:sp>
      <p:sp>
        <p:nvSpPr>
          <p:cNvPr id="19" name="Shape 17"/>
          <p:cNvSpPr/>
          <p:nvPr/>
        </p:nvSpPr>
        <p:spPr>
          <a:xfrm>
            <a:off x="6172200" y="3977640"/>
            <a:ext cx="5440680" cy="1005840"/>
          </a:xfrm>
          <a:prstGeom prst="rect">
            <a:avLst/>
          </a:prstGeom>
          <a:solidFill>
            <a:srgbClr val="EEF2F7"/>
          </a:solidFill>
          <a:ln w="12700">
            <a:solidFill>
              <a:srgbClr val="EEF2F7"/>
            </a:solidFill>
            <a:prstDash val="solid"/>
          </a:ln>
        </p:spPr>
      </p:sp>
      <p:sp>
        <p:nvSpPr>
          <p:cNvPr id="20" name="Text 18"/>
          <p:cNvSpPr/>
          <p:nvPr/>
        </p:nvSpPr>
        <p:spPr>
          <a:xfrm>
            <a:off x="6355080" y="4069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Is the model standard?</a:t>
            </a:r>
            <a:endParaRPr lang="en-US" sz="1250" dirty="0"/>
          </a:p>
        </p:txBody>
      </p:sp>
      <p:sp>
        <p:nvSpPr>
          <p:cNvPr id="21" name="Text 19"/>
          <p:cNvSpPr/>
          <p:nvPr/>
        </p:nvSpPr>
        <p:spPr>
          <a:xfrm>
            <a:off x="6355080" y="4370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Yes: Huff (1963), widely used by retailers and planners for catchment areas.</a:t>
            </a:r>
            <a:endParaRPr lang="en-US" sz="1150" dirty="0"/>
          </a:p>
        </p:txBody>
      </p:sp>
      <p:sp>
        <p:nvSpPr>
          <p:cNvPr id="22" name="Shape 20"/>
          <p:cNvSpPr/>
          <p:nvPr/>
        </p:nvSpPr>
        <p:spPr>
          <a:xfrm>
            <a:off x="548640" y="5120640"/>
            <a:ext cx="5440680" cy="1005840"/>
          </a:xfrm>
          <a:prstGeom prst="rect">
            <a:avLst/>
          </a:prstGeom>
          <a:solidFill>
            <a:srgbClr val="EEF2F7"/>
          </a:solidFill>
          <a:ln w="12700">
            <a:solidFill>
              <a:srgbClr val="EEF2F7"/>
            </a:solidFill>
            <a:prstDash val="solid"/>
          </a:ln>
        </p:spPr>
      </p:sp>
      <p:sp>
        <p:nvSpPr>
          <p:cNvPr id="23" name="Text 21"/>
          <p:cNvSpPr/>
          <p:nvPr/>
        </p:nvSpPr>
        <p:spPr>
          <a:xfrm>
            <a:off x="731520" y="5212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What about fuel?</a:t>
            </a:r>
            <a:endParaRPr lang="en-US" sz="1250" dirty="0"/>
          </a:p>
        </p:txBody>
      </p:sp>
      <p:sp>
        <p:nvSpPr>
          <p:cNvPr id="24" name="Text 22"/>
          <p:cNvSpPr/>
          <p:nvPr/>
        </p:nvSpPr>
        <p:spPr>
          <a:xfrm>
            <a:off x="731520" y="5513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Not in the €6 bn. Annual data by département cannot isolate the 2020 closure; monthly data would be needed.</a:t>
            </a:r>
            <a:endParaRPr lang="en-US" sz="1150" dirty="0"/>
          </a:p>
        </p:txBody>
      </p:sp>
      <p:sp>
        <p:nvSpPr>
          <p:cNvPr id="25" name="Shape 23"/>
          <p:cNvSpPr/>
          <p:nvPr/>
        </p:nvSpPr>
        <p:spPr>
          <a:xfrm>
            <a:off x="6172200" y="5120640"/>
            <a:ext cx="5440680" cy="1005840"/>
          </a:xfrm>
          <a:prstGeom prst="rect">
            <a:avLst/>
          </a:prstGeom>
          <a:solidFill>
            <a:srgbClr val="EEF2F7"/>
          </a:solidFill>
          <a:ln w="12700">
            <a:solidFill>
              <a:srgbClr val="EEF2F7"/>
            </a:solidFill>
            <a:prstDash val="solid"/>
          </a:ln>
        </p:spPr>
      </p:sp>
      <p:sp>
        <p:nvSpPr>
          <p:cNvPr id="26" name="Text 24"/>
          <p:cNvSpPr/>
          <p:nvPr/>
        </p:nvSpPr>
        <p:spPr>
          <a:xfrm>
            <a:off x="6355080" y="5212080"/>
            <a:ext cx="512064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Can we give results by town?</a:t>
            </a:r>
            <a:endParaRPr lang="en-US" sz="1250" dirty="0"/>
          </a:p>
        </p:txBody>
      </p:sp>
      <p:sp>
        <p:nvSpPr>
          <p:cNvPr id="27" name="Text 25"/>
          <p:cNvSpPr/>
          <p:nvPr/>
        </p:nvSpPr>
        <p:spPr>
          <a:xfrm>
            <a:off x="6355080" y="5513832"/>
            <a:ext cx="5120640" cy="566928"/>
          </a:xfrm>
          <a:prstGeom prst="rect">
            <a:avLst/>
          </a:prstGeom>
          <a:noFill/>
          <a:ln/>
        </p:spPr>
        <p:txBody>
          <a:bodyPr wrap="square" lIns="0" tIns="0" rIns="0" bIns="0" rtlCol="0" anchor="t"/>
          <a:lstStyle/>
          <a:p>
            <a:pPr indent="0" marL="0">
              <a:buNone/>
            </a:pPr>
            <a:r>
              <a:rPr lang="en-US" sz="1150" dirty="0">
                <a:solidFill>
                  <a:srgbClr val="22303F"/>
                </a:solidFill>
                <a:latin typeface="Calibri" pitchFamily="34" charset="0"/>
                <a:ea typeface="Calibri" pitchFamily="34" charset="-122"/>
                <a:cs typeface="Calibri" pitchFamily="34" charset="-120"/>
              </a:rPr>
              <a:t>Not reliably: shop data are too uneven at that level. Results by département or border are fine.</a:t>
            </a:r>
            <a:endParaRPr lang="en-US" sz="1150" dirty="0"/>
          </a:p>
        </p:txBody>
      </p:sp>
      <p:sp>
        <p:nvSpPr>
          <p:cNvPr id="28" name="Text 26"/>
          <p:cNvSpPr/>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Huff, D. L. (1963), 'A probabilistic analysis of shopping center trade areas', Land Economics, 39(1), 81–90.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Cross-border retail model: method and limits</dc:title>
  <dc:subject>PptxGenJS Presentation</dc:subject>
  <dc:creator>PptxGenJS</dc:creator>
  <cp:lastModifiedBy>PptxGenJS</cp:lastModifiedBy>
  <cp:revision>1</cp:revision>
  <dcterms:created xsi:type="dcterms:W3CDTF">2026-09-28T12:53:29Z</dcterms:created>
  <dcterms:modified xsi:type="dcterms:W3CDTF">2026-09-28T12:53:29Z</dcterms:modified>
</cp:coreProperties>
</file>