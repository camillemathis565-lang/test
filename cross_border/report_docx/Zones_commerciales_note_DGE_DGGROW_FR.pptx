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1B2A4A"/>
            </a:solidFill>
            <a:effectLst/>
          </c:spPr>
          <c:invertIfNegative val="0"/>
          <c:dLbls>
            <c:numFmt formatCode="#,##0" sourceLinked="0"/>
            <c:txPr>
              <a:bodyPr/>
              <a:lstStyle/>
              <a:p>
                <a:pPr>
                  <a:defRPr b="1" i="0" strike="noStrike" sz="1400" u="none">
                    <a:solidFill>
                      <a:srgbClr val="22303F"/>
                    </a:solidFill>
                    <a:latin typeface="Arial"/>
                  </a:defRPr>
                </a:pPr>
              </a:p>
            </c:txPr>
            <c:showLegendKey val="0"/>
            <c:showVal val="1"/>
            <c:showCatName val="0"/>
            <c:showSerName val="0"/>
            <c:showPercent val="0"/>
            <c:showBubbleSize val="0"/>
            <c:showLeaderLines val="0"/>
          </c:dLbls>
          <c:dPt>
            <c:idx val="0"/>
            <c:invertIfNegative val="0"/>
            <c:bubble3D val="0"/>
            <c:spPr>
              <a:solidFill>
                <a:srgbClr val="1B2A4A"/>
              </a:solidFill>
              <a:effectLst/>
            </c:spPr>
          </c:dPt>
          <c:dPt>
            <c:idx val="1"/>
            <c:invertIfNegative val="0"/>
            <c:bubble3D val="0"/>
            <c:spPr>
              <a:solidFill>
                <a:srgbClr val="A9CBE8"/>
              </a:solidFill>
              <a:effectLst/>
            </c:spPr>
          </c:dPt>
          <c:dPt>
            <c:idx val="2"/>
            <c:invertIfNegative val="0"/>
            <c:bubble3D val="0"/>
            <c:spPr>
              <a:solidFill>
                <a:srgbClr val="A9CBE8"/>
              </a:solidFill>
              <a:effectLst/>
            </c:spPr>
          </c:dPt>
          <c:dPt>
            <c:idx val="3"/>
            <c:invertIfNegative val="0"/>
            <c:bubble3D val="0"/>
            <c:spPr>
              <a:solidFill>
                <a:srgbClr val="B8C2CC"/>
              </a:solidFill>
              <a:effectLst/>
            </c:spPr>
          </c:dPt>
          <c:cat>
            <c:multiLvlStrRef>
              <c:f>Sheet1!$A$2:$A$5</c:f>
              <c:multiLvlStrCache>
                <c:ptCount val="4"/>
                <c:lvl>
                  <c:pt idx="0">
                    <c:v>Périphérie</c:v>
                  </c:pt>
                  <c:pt idx="1">
                    <c:v>Centres-villes</c:v>
                  </c:pt>
                  <c:pt idx="2">
                    <c:v>Proximité</c:v>
                  </c:pt>
                  <c:pt idx="3">
                    <c:v>En ligne</c:v>
                  </c:pt>
                </c:lvl>
              </c:multiLvlStrCache>
            </c:multiLvlStrRef>
          </c:cat>
          <c:val>
            <c:numRef>
              <c:f>Sheet1!$B$2:$B$5</c:f>
              <c:numCache>
                <c:formatCode>General</c:formatCode>
                <c:ptCount val="4"/>
                <c:pt idx="0">
                  <c:v>67</c:v>
                </c:pt>
                <c:pt idx="1">
                  <c:v>11</c:v>
                </c:pt>
                <c:pt idx="2">
                  <c:v>11</c:v>
                </c:pt>
                <c:pt idx="3">
                  <c:v>11</c:v>
                </c:pt>
              </c:numCache>
            </c:numRef>
          </c:val>
        </c:ser>
        <c:dLbls>
          <c:numFmt formatCode="#,##0" sourceLinked="0"/>
          <c:txPr>
            <a:bodyPr/>
            <a:lstStyle/>
            <a:p>
              <a:pPr>
                <a:defRPr b="1" i="0" strike="noStrike" sz="1400" u="none">
                  <a:solidFill>
                    <a:srgbClr val="22303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303F"/>
                </a:solidFill>
                <a:latin typeface="Calibri"/>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B8C2CC"/>
            </a:solidFill>
            <a:effectLst/>
          </c:spPr>
          <c:invertIfNegative val="0"/>
          <c:dLbls>
            <c:numFmt formatCode="0.0" sourceLinked="0"/>
            <c:txPr>
              <a:bodyPr/>
              <a:lstStyle/>
              <a:p>
                <a:pPr>
                  <a:defRPr b="1" i="0" strike="noStrike" sz="1400" u="none">
                    <a:solidFill>
                      <a:srgbClr val="22303F"/>
                    </a:solidFill>
                    <a:latin typeface="Arial"/>
                  </a:defRPr>
                </a:pPr>
              </a:p>
            </c:txPr>
            <c:showLegendKey val="0"/>
            <c:showVal val="1"/>
            <c:showCatName val="0"/>
            <c:showSerName val="0"/>
            <c:showPercent val="0"/>
            <c:showBubbleSize val="0"/>
            <c:showLeaderLines val="0"/>
          </c:dLbls>
          <c:dPt>
            <c:idx val="0"/>
            <c:invertIfNegative val="0"/>
            <c:bubble3D val="0"/>
            <c:spPr>
              <a:solidFill>
                <a:srgbClr val="B8C2CC"/>
              </a:solidFill>
              <a:effectLst/>
            </c:spPr>
          </c:dPt>
          <c:dPt>
            <c:idx val="1"/>
            <c:invertIfNegative val="0"/>
            <c:bubble3D val="0"/>
            <c:spPr>
              <a:solidFill>
                <a:srgbClr val="A9CBE8"/>
              </a:solidFill>
              <a:effectLst/>
            </c:spPr>
          </c:dPt>
          <c:dPt>
            <c:idx val="2"/>
            <c:invertIfNegative val="0"/>
            <c:bubble3D val="0"/>
            <c:spPr>
              <a:solidFill>
                <a:srgbClr val="1B2A4A"/>
              </a:solidFill>
              <a:effectLst/>
            </c:spPr>
          </c:dPt>
          <c:cat>
            <c:multiLvlStrRef>
              <c:f>Sheet1!$A$2:$A$4</c:f>
              <c:multiLvlStrCache>
                <c:ptCount val="3"/>
                <c:lvl>
                  <c:pt idx="0">
                    <c:v>Centres commerciaux</c:v>
                  </c:pt>
                  <c:pt idx="1">
                    <c:v>Centres-villes</c:v>
                  </c:pt>
                  <c:pt idx="2">
                    <c:v>Zones périphériques</c:v>
                  </c:pt>
                </c:lvl>
              </c:multiLvlStrCache>
            </c:multiLvlStrRef>
          </c:cat>
          <c:val>
            <c:numRef>
              <c:f>Sheet1!$B$2:$B$4</c:f>
              <c:numCache>
                <c:formatCode>General</c:formatCode>
                <c:ptCount val="3"/>
                <c:pt idx="0">
                  <c:v>16.8</c:v>
                </c:pt>
                <c:pt idx="1">
                  <c:v>11.7</c:v>
                </c:pt>
                <c:pt idx="2">
                  <c:v>8.4</c:v>
                </c:pt>
              </c:numCache>
            </c:numRef>
          </c:val>
        </c:ser>
        <c:dLbls>
          <c:numFmt formatCode="0.0" sourceLinked="0"/>
          <c:txPr>
            <a:bodyPr/>
            <a:lstStyle/>
            <a:p>
              <a:pPr>
                <a:defRPr b="1" i="0" strike="noStrike" sz="1400" u="none">
                  <a:solidFill>
                    <a:srgbClr val="22303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303F"/>
                </a:solidFill>
                <a:latin typeface="Calibri"/>
              </a:defRPr>
            </a:pPr>
            <a:endParaRPr lang="en-US"/>
          </a:p>
        </c:txPr>
        <c:crossAx val="2094734552"/>
        <c:crosses val="autoZero"/>
        <c:auto val="1"/>
        <c:lblAlgn val="ctr"/>
        <c:noMultiLvlLbl val="1"/>
      </c:catAx>
      <c:valAx>
        <c:axId val="2094734552"/>
        <c:scaling>
          <c:orientation val="minMax"/>
          <c:max val="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la France est l'un des pays européens où le commerce est le plus polarisé en périphérie, par choix historique de liberté d'implantation. La périphérie concentre les deux tiers des ventes et l'essentiel de la croissance de l'emploi et des surfaces. C'est un modèle qui se distingue nettement de l'Allemagne ou des Pays-Bas, où la planification encadre la localisation du 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périphérie reste le format qui fonctionne le mieux, en fréquentation comme en vacance. Mais sa vacance a doublé depuis 2007 et progresse désormais plus vite qu'en centre-ville : suroffre, dépendance à la voiture et bâti vieillissant. La régulation a basculé : l'objectif ZAN a fait chuter les autorisations de deux tiers. L'extension n'est plus une stratégie ; seule la transformation de l'existant reste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Cinquante ans de droit de l'urbanisme commercial sont passés d'une logique de protection des concurrents à une logique de protection des sols. Les outils juridiques sont en place (SCoT/DAAC, ORT, grande opération d'urbanisme), mais la transformation avance projet par projet et dépend de la volonté politique locale. Les 31,4 M€ du plan comptent au niveau de chaque projet, mais restent marginaux face à plus de 1 500 zones. Montigny-lès-Cormeilles montre ce qu'une transformation complète demande : du temps (depuis 2010), du portage foncier et un projet urbain. Les pistes proposées sont des points de discussion, pas des recommandations arrêtées.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1 · POIDS DE LA PÉRIPHÉRIE</a:t>
            </a:r>
            <a:endParaRPr lang="en-US" sz="1100" dirty="0"/>
          </a:p>
        </p:txBody>
      </p:sp>
      <p:sp>
        <p:nvSpPr>
          <p:cNvPr id="3" name="Text 1"/>
          <p:cNvSpPr txBox="1"/>
          <p:nvPr/>
        </p:nvSpPr>
        <p:spPr>
          <a:xfrm>
            <a:off x="548640" y="621792"/>
            <a:ext cx="11064240" cy="868680"/>
          </a:xfrm>
          <a:prstGeom prst="rect">
            <a:avLst/>
          </a:prstGeom>
          <a:noFill/>
          <a:ln/>
        </p:spPr>
        <p:txBody>
          <a:bodyPr wrap="square" lIns="0" tIns="0" rIns="0" bIns="0" rtlCol="0" anchor="t"/>
          <a:lstStyle/>
          <a:p>
            <a:pPr indent="0" marL="0">
              <a:buNone/>
            </a:pPr>
            <a:r>
              <a:rPr lang="en-US" sz="2800" b="1" dirty="0">
                <a:solidFill>
                  <a:srgbClr val="1B2A4A"/>
                </a:solidFill>
                <a:latin typeface="Cambria" pitchFamily="34" charset="0"/>
                <a:ea typeface="Cambria" pitchFamily="34" charset="-122"/>
                <a:cs typeface="Cambria" pitchFamily="34" charset="-120"/>
              </a:rPr>
              <a:t>La France a fait de la périphérie le cœur de son commerce</a:t>
            </a:r>
            <a:endParaRPr lang="en-US" sz="2800" dirty="0"/>
          </a:p>
        </p:txBody>
      </p:sp>
      <p:sp>
        <p:nvSpPr>
          <p:cNvPr id="4" name="Shape 2"/>
          <p:cNvSpPr/>
          <p:nvPr/>
        </p:nvSpPr>
        <p:spPr>
          <a:xfrm>
            <a:off x="548640" y="1691640"/>
            <a:ext cx="2606040" cy="1417320"/>
          </a:xfrm>
          <a:prstGeom prst="rect">
            <a:avLst/>
          </a:prstGeom>
          <a:solidFill>
            <a:srgbClr val="EEF2F7"/>
          </a:solidFill>
          <a:ln w="12700">
            <a:solidFill>
              <a:srgbClr val="EEF2F7"/>
            </a:solidFill>
            <a:prstDash val="solid"/>
          </a:ln>
        </p:spPr>
      </p:sp>
      <p:sp>
        <p:nvSpPr>
          <p:cNvPr id="5" name="Text 3"/>
          <p:cNvSpPr txBox="1"/>
          <p:nvPr/>
        </p:nvSpPr>
        <p:spPr>
          <a:xfrm>
            <a:off x="731520" y="1801368"/>
            <a:ext cx="2240280" cy="566928"/>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67 %</a:t>
            </a:r>
            <a:endParaRPr lang="en-US" sz="3000" dirty="0"/>
          </a:p>
        </p:txBody>
      </p:sp>
      <p:sp>
        <p:nvSpPr>
          <p:cNvPr id="6" name="Text 4"/>
          <p:cNvSpPr txBox="1"/>
          <p:nvPr/>
        </p:nvSpPr>
        <p:spPr>
          <a:xfrm>
            <a:off x="731520" y="2368296"/>
            <a:ext cx="2240280" cy="658368"/>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des ventes du commerce de détail réalisées en périphérie (2024)</a:t>
            </a:r>
            <a:endParaRPr lang="en-US" sz="1100" dirty="0"/>
          </a:p>
        </p:txBody>
      </p:sp>
      <p:sp>
        <p:nvSpPr>
          <p:cNvPr id="7" name="Shape 5"/>
          <p:cNvSpPr/>
          <p:nvPr/>
        </p:nvSpPr>
        <p:spPr>
          <a:xfrm>
            <a:off x="3291840" y="1691640"/>
            <a:ext cx="2606040" cy="1417320"/>
          </a:xfrm>
          <a:prstGeom prst="rect">
            <a:avLst/>
          </a:prstGeom>
          <a:solidFill>
            <a:srgbClr val="EEF2F7"/>
          </a:solidFill>
          <a:ln w="12700">
            <a:solidFill>
              <a:srgbClr val="EEF2F7"/>
            </a:solidFill>
            <a:prstDash val="solid"/>
          </a:ln>
        </p:spPr>
      </p:sp>
      <p:sp>
        <p:nvSpPr>
          <p:cNvPr id="8" name="Text 6"/>
          <p:cNvSpPr txBox="1"/>
          <p:nvPr/>
        </p:nvSpPr>
        <p:spPr>
          <a:xfrm>
            <a:off x="3474720" y="1801368"/>
            <a:ext cx="2240280" cy="566928"/>
          </a:xfrm>
          <a:prstGeom prst="rect">
            <a:avLst/>
          </a:prstGeom>
          <a:noFill/>
          <a:ln/>
        </p:spPr>
        <p:txBody>
          <a:bodyPr wrap="square" lIns="0" tIns="0" rIns="0" bIns="0" rtlCol="0" anchor="ctr"/>
          <a:lstStyle/>
          <a:p>
            <a:pPr indent="0" marL="0">
              <a:buNone/>
            </a:pPr>
            <a:r>
              <a:rPr lang="en-US" sz="3000" b="1" dirty="0">
                <a:solidFill>
                  <a:srgbClr val="2E6DB4"/>
                </a:solidFill>
                <a:latin typeface="Cambria" pitchFamily="34" charset="0"/>
                <a:ea typeface="Cambria" pitchFamily="34" charset="-122"/>
                <a:cs typeface="Cambria" pitchFamily="34" charset="-120"/>
              </a:rPr>
              <a:t>1 500+</a:t>
            </a:r>
            <a:endParaRPr lang="en-US" sz="3000" dirty="0"/>
          </a:p>
        </p:txBody>
      </p:sp>
      <p:sp>
        <p:nvSpPr>
          <p:cNvPr id="9" name="Text 7"/>
          <p:cNvSpPr txBox="1"/>
          <p:nvPr/>
        </p:nvSpPr>
        <p:spPr>
          <a:xfrm>
            <a:off x="3474720" y="2368296"/>
            <a:ext cx="2240280" cy="658368"/>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zones commerciales périphériques, soit 500 M m² : 5 fois le bâti de Paris intra-muros</a:t>
            </a:r>
            <a:endParaRPr lang="en-US" sz="1100" dirty="0"/>
          </a:p>
        </p:txBody>
      </p:sp>
      <p:sp>
        <p:nvSpPr>
          <p:cNvPr id="10" name="Text 8"/>
          <p:cNvSpPr txBox="1"/>
          <p:nvPr/>
        </p:nvSpPr>
        <p:spPr>
          <a:xfrm>
            <a:off x="548640" y="3310128"/>
            <a:ext cx="5349240" cy="2926080"/>
          </a:xfrm>
          <a:prstGeom prst="rect">
            <a:avLst/>
          </a:prstGeom>
          <a:noFill/>
          <a:ln/>
        </p:spPr>
        <p:txBody>
          <a:bodyPr wrap="square" lIns="0" tIns="0" rIns="0" bIns="0" rtlCol="0" anchor="t"/>
          <a:lstStyle/>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Un modèle européen à part.</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Avec la Belgique et la région de Madrid, la France a privilégié la liberté d'implantation. L'Allemagne, l'Italie, la Catalogne, l'Angleterre et les Pays-Bas ont choisi une planification contraignante : le commerce allemand se répartit à parts à peu près égales entre périphérie, centres-villes et proximité.</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La périphérie crée les emplois.</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Entre 2016 et 2022, l'emploi salarié du commerce progresse de 8 % en périphérie contre 1,2 % en centre-ville. Les établissements augmentent de 9 % en périphérie et reculent de 6 % en centre-ville.</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Des formats sans commune mesure.</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Un magasin moyen occupe 730 m² en périphérie contre 115 m² en centre-ville.</a:t>
            </a:r>
            <a:endParaRPr lang="en-US" sz="1200" dirty="0"/>
          </a:p>
        </p:txBody>
      </p:sp>
      <p:sp>
        <p:nvSpPr>
          <p:cNvPr id="11" name="Text 9"/>
          <p:cNvSpPr txBox="1"/>
          <p:nvPr/>
        </p:nvSpPr>
        <p:spPr>
          <a:xfrm>
            <a:off x="6309360" y="1691640"/>
            <a:ext cx="530352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Répartition des ventes du commerce de détail en France, 2024 (%)</a:t>
            </a:r>
            <a:endParaRPr lang="en-US" sz="1300" dirty="0"/>
          </a:p>
        </p:txBody>
      </p:sp>
      <p:graphicFrame>
        <p:nvGraphicFramePr>
          <p:cNvPr id="12" name="Chart 0" descr=""/>
          <p:cNvGraphicFramePr/>
          <p:nvPr/>
        </p:nvGraphicFramePr>
        <p:xfrm>
          <a:off x="6217920" y="2148840"/>
          <a:ext cx="5440680" cy="402336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Sources : note de travail DGE, d'après Cerema et ANCT (zones et surfaces), Procos (répartition des ventes), Insee (emploi, établissements, surfaces de vente).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2 · UN MODÈLE QUI S'ÉRODE</a:t>
            </a:r>
            <a:endParaRPr lang="en-US" sz="1100" dirty="0"/>
          </a:p>
        </p:txBody>
      </p:sp>
      <p:sp>
        <p:nvSpPr>
          <p:cNvPr id="3" name="Text 1"/>
          <p:cNvSpPr txBox="1"/>
          <p:nvPr/>
        </p:nvSpPr>
        <p:spPr>
          <a:xfrm>
            <a:off x="548640" y="621792"/>
            <a:ext cx="11064240" cy="868680"/>
          </a:xfrm>
          <a:prstGeom prst="rect">
            <a:avLst/>
          </a:prstGeom>
          <a:noFill/>
          <a:ln/>
        </p:spPr>
        <p:txBody>
          <a:bodyPr wrap="square" lIns="0" tIns="0" rIns="0" bIns="0" rtlCol="0" anchor="t"/>
          <a:lstStyle/>
          <a:p>
            <a:pPr indent="0" marL="0">
              <a:buNone/>
            </a:pPr>
            <a:r>
              <a:rPr lang="en-US" sz="2800" b="1" dirty="0">
                <a:solidFill>
                  <a:srgbClr val="1B2A4A"/>
                </a:solidFill>
                <a:latin typeface="Cambria" pitchFamily="34" charset="0"/>
                <a:ea typeface="Cambria" pitchFamily="34" charset="-122"/>
                <a:cs typeface="Cambria" pitchFamily="34" charset="-120"/>
              </a:rPr>
              <a:t>La périphérie gagne encore en volume, mais le modèle s'essouffle et la régulation a changé de cap</a:t>
            </a:r>
            <a:endParaRPr lang="en-US" sz="2800" dirty="0"/>
          </a:p>
        </p:txBody>
      </p:sp>
      <p:sp>
        <p:nvSpPr>
          <p:cNvPr id="4" name="Shape 2"/>
          <p:cNvSpPr/>
          <p:nvPr/>
        </p:nvSpPr>
        <p:spPr>
          <a:xfrm>
            <a:off x="548640" y="1691640"/>
            <a:ext cx="2606040" cy="1417320"/>
          </a:xfrm>
          <a:prstGeom prst="rect">
            <a:avLst/>
          </a:prstGeom>
          <a:solidFill>
            <a:srgbClr val="EEF2F7"/>
          </a:solidFill>
          <a:ln w="12700">
            <a:solidFill>
              <a:srgbClr val="EEF2F7"/>
            </a:solidFill>
            <a:prstDash val="solid"/>
          </a:ln>
        </p:spPr>
      </p:sp>
      <p:sp>
        <p:nvSpPr>
          <p:cNvPr id="5" name="Text 3"/>
          <p:cNvSpPr txBox="1"/>
          <p:nvPr/>
        </p:nvSpPr>
        <p:spPr>
          <a:xfrm>
            <a:off x="731520" y="1801368"/>
            <a:ext cx="2240280" cy="566928"/>
          </a:xfrm>
          <a:prstGeom prst="rect">
            <a:avLst/>
          </a:prstGeom>
          <a:noFill/>
          <a:ln/>
        </p:spPr>
        <p:txBody>
          <a:bodyPr wrap="square" lIns="0" tIns="0" rIns="0" bIns="0" rtlCol="0" anchor="ctr"/>
          <a:lstStyle/>
          <a:p>
            <a:pPr indent="0" marL="0">
              <a:buNone/>
            </a:pPr>
            <a:r>
              <a:rPr lang="en-US" sz="3000" b="1" dirty="0">
                <a:solidFill>
                  <a:srgbClr val="C0504D"/>
                </a:solidFill>
                <a:latin typeface="Cambria" pitchFamily="34" charset="0"/>
                <a:ea typeface="Cambria" pitchFamily="34" charset="-122"/>
                <a:cs typeface="Cambria" pitchFamily="34" charset="-120"/>
              </a:rPr>
              <a:t>×2</a:t>
            </a:r>
            <a:endParaRPr lang="en-US" sz="3000" dirty="0"/>
          </a:p>
        </p:txBody>
      </p:sp>
      <p:sp>
        <p:nvSpPr>
          <p:cNvPr id="6" name="Text 4"/>
          <p:cNvSpPr txBox="1"/>
          <p:nvPr/>
        </p:nvSpPr>
        <p:spPr>
          <a:xfrm>
            <a:off x="731520" y="2368296"/>
            <a:ext cx="2240280" cy="658368"/>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la vacance en périphérie depuis 2007 (de moins de 4 % à plus de 8 %), en hausse plus rapide qu'en centre-ville</a:t>
            </a:r>
            <a:endParaRPr lang="en-US" sz="1100" dirty="0"/>
          </a:p>
        </p:txBody>
      </p:sp>
      <p:sp>
        <p:nvSpPr>
          <p:cNvPr id="7" name="Shape 5"/>
          <p:cNvSpPr/>
          <p:nvPr/>
        </p:nvSpPr>
        <p:spPr>
          <a:xfrm>
            <a:off x="3291840" y="1691640"/>
            <a:ext cx="2606040" cy="1417320"/>
          </a:xfrm>
          <a:prstGeom prst="rect">
            <a:avLst/>
          </a:prstGeom>
          <a:solidFill>
            <a:srgbClr val="EEF2F7"/>
          </a:solidFill>
          <a:ln w="12700">
            <a:solidFill>
              <a:srgbClr val="EEF2F7"/>
            </a:solidFill>
            <a:prstDash val="solid"/>
          </a:ln>
        </p:spPr>
      </p:sp>
      <p:sp>
        <p:nvSpPr>
          <p:cNvPr id="8" name="Text 6"/>
          <p:cNvSpPr txBox="1"/>
          <p:nvPr/>
        </p:nvSpPr>
        <p:spPr>
          <a:xfrm>
            <a:off x="3474720" y="1801368"/>
            <a:ext cx="2240280" cy="566928"/>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−67 %</a:t>
            </a:r>
            <a:endParaRPr lang="en-US" sz="3000" dirty="0"/>
          </a:p>
        </p:txBody>
      </p:sp>
      <p:sp>
        <p:nvSpPr>
          <p:cNvPr id="9" name="Text 7"/>
          <p:cNvSpPr txBox="1"/>
          <p:nvPr/>
        </p:nvSpPr>
        <p:spPr>
          <a:xfrm>
            <a:off x="3474720" y="2368296"/>
            <a:ext cx="2240280" cy="658368"/>
          </a:xfrm>
          <a:prstGeom prst="rect">
            <a:avLst/>
          </a:prstGeom>
          <a:noFill/>
          <a:ln/>
        </p:spPr>
        <p:txBody>
          <a:bodyPr wrap="square" lIns="0" tIns="0" rIns="0" bIns="0" rtlCol="0" anchor="t"/>
          <a:lstStyle/>
          <a:p>
            <a:pPr indent="0" marL="0">
              <a:buNone/>
            </a:pPr>
            <a:r>
              <a:rPr lang="en-US" sz="1100" dirty="0">
                <a:solidFill>
                  <a:srgbClr val="22303F"/>
                </a:solidFill>
                <a:latin typeface="Calibri" pitchFamily="34" charset="0"/>
                <a:ea typeface="Calibri" pitchFamily="34" charset="-122"/>
                <a:cs typeface="Calibri" pitchFamily="34" charset="-120"/>
              </a:rPr>
              <a:t>de surfaces commerciales autorisées entre 2019 et 2024 (1,31 à 0,47 M m²)</a:t>
            </a:r>
            <a:endParaRPr lang="en-US" sz="1100" dirty="0"/>
          </a:p>
        </p:txBody>
      </p:sp>
      <p:sp>
        <p:nvSpPr>
          <p:cNvPr id="10" name="Text 8"/>
          <p:cNvSpPr txBox="1"/>
          <p:nvPr/>
        </p:nvSpPr>
        <p:spPr>
          <a:xfrm>
            <a:off x="548640" y="3310128"/>
            <a:ext cx="5349240" cy="2926080"/>
          </a:xfrm>
          <a:prstGeom prst="rect">
            <a:avLst/>
          </a:prstGeom>
          <a:noFill/>
          <a:ln/>
        </p:spPr>
        <p:txBody>
          <a:bodyPr wrap="square" lIns="0" tIns="0" rIns="0" bIns="0" rtlCol="0" anchor="t"/>
          <a:lstStyle/>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Encore en tête.</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En mars 2026, la fréquentation progresse de 1,6 % sur un an en périphérie contre −0,1 % en centre-ville, et 62 % des Français déclarent préférer les zones périphériques.</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Un parc vieillissant.</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Des bâtiments des années 1960 à 1990, souvent de véritables « passoires thermiques », devront réduire leur consommation d'énergie de 40 % d'ici 2030 (décret tertiaire).</a:t>
            </a:r>
            <a:endParaRPr lang="en-US" sz="1200" dirty="0"/>
          </a:p>
          <a:p>
            <a:pPr indent="0" marL="0">
              <a:spcAft>
                <a:spcPts val="200"/>
              </a:spcAft>
              <a:buNone/>
            </a:pPr>
            <a:r>
              <a:rPr lang="en-US" sz="600" dirty="0">
                <a:solidFill>
                  <a:srgbClr val="22303F"/>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b="1" dirty="0">
                <a:solidFill>
                  <a:srgbClr val="22303F"/>
                </a:solidFill>
                <a:latin typeface="Calibri" pitchFamily="34" charset="0"/>
                <a:ea typeface="Calibri" pitchFamily="34" charset="-122"/>
                <a:cs typeface="Calibri" pitchFamily="34" charset="-120"/>
              </a:rPr>
              <a:t>De la protection des concurrents à la protection des sols.</a:t>
            </a:r>
            <a:endParaRPr lang="en-US" sz="1200" dirty="0"/>
          </a:p>
          <a:p>
            <a:pPr indent="0" marL="0">
              <a:spcAft>
                <a:spcPts val="200"/>
              </a:spcAft>
              <a:buNone/>
            </a:pPr>
            <a:r>
              <a:rPr lang="en-US" sz="1200" dirty="0">
                <a:solidFill>
                  <a:srgbClr val="22303F"/>
                </a:solidFill>
                <a:latin typeface="Calibri" pitchFamily="34" charset="0"/>
                <a:ea typeface="Calibri" pitchFamily="34" charset="-122"/>
                <a:cs typeface="Calibri" pitchFamily="34" charset="-120"/>
              </a:rPr>
              <a:t>Après Royer (1973) et Raffarin (1996), la loi Climat et résilience (2021) fixe l'objectif ZAN. La France est le seul pays européen à l'avoir inscrit dans une loi contraignante ; l'Allemagne et la Flandre s'en tiennent à des cibles indicatives.</a:t>
            </a:r>
            <a:endParaRPr lang="en-US" sz="1200" dirty="0"/>
          </a:p>
        </p:txBody>
      </p:sp>
      <p:sp>
        <p:nvSpPr>
          <p:cNvPr id="11" name="Text 9"/>
          <p:cNvSpPr txBox="1"/>
          <p:nvPr/>
        </p:nvSpPr>
        <p:spPr>
          <a:xfrm>
            <a:off x="6309360" y="1691640"/>
            <a:ext cx="5303520" cy="36576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Taux de vacance commerciale, 2025 (%)</a:t>
            </a:r>
            <a:endParaRPr lang="en-US" sz="1300" dirty="0"/>
          </a:p>
        </p:txBody>
      </p:sp>
      <p:graphicFrame>
        <p:nvGraphicFramePr>
          <p:cNvPr id="12" name="Chart 0" descr=""/>
          <p:cNvGraphicFramePr/>
          <p:nvPr/>
        </p:nvGraphicFramePr>
        <p:xfrm>
          <a:off x="6217920" y="2148840"/>
          <a:ext cx="5440680" cy="402336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Sources : note de travail DGE, d'après Procos/Kyris (autorisations), enquête Ifop pour l'ANCT et la Banque des Territoires, décret tertiaire, comparaisons européennes (mémoire EMSFI).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E6DB4"/>
                </a:solidFill>
                <a:latin typeface="Calibri" pitchFamily="34" charset="0"/>
                <a:ea typeface="Calibri" pitchFamily="34" charset="-122"/>
                <a:cs typeface="Calibri" pitchFamily="34" charset="-120"/>
              </a:rPr>
              <a:t>3 · TRANSFORMER L'EXISTANT</a:t>
            </a:r>
            <a:endParaRPr lang="en-US" sz="1100" dirty="0"/>
          </a:p>
        </p:txBody>
      </p:sp>
      <p:sp>
        <p:nvSpPr>
          <p:cNvPr id="3" name="Text 1"/>
          <p:cNvSpPr txBox="1"/>
          <p:nvPr/>
        </p:nvSpPr>
        <p:spPr>
          <a:xfrm>
            <a:off x="548640" y="621792"/>
            <a:ext cx="11064240" cy="868680"/>
          </a:xfrm>
          <a:prstGeom prst="rect">
            <a:avLst/>
          </a:prstGeom>
          <a:noFill/>
          <a:ln/>
        </p:spPr>
        <p:txBody>
          <a:bodyPr wrap="square" lIns="0" tIns="0" rIns="0" bIns="0" rtlCol="0" anchor="t"/>
          <a:lstStyle/>
          <a:p>
            <a:pPr indent="0" marL="0">
              <a:buNone/>
            </a:pPr>
            <a:r>
              <a:rPr lang="en-US" sz="2800" b="1" dirty="0">
                <a:solidFill>
                  <a:srgbClr val="1B2A4A"/>
                </a:solidFill>
                <a:latin typeface="Cambria" pitchFamily="34" charset="0"/>
                <a:ea typeface="Cambria" pitchFamily="34" charset="-122"/>
                <a:cs typeface="Cambria" pitchFamily="34" charset="-120"/>
              </a:rPr>
              <a:t>Les outils existent, mais les moyens restent sans commune mesure avec l'enjeu</a:t>
            </a:r>
            <a:endParaRPr lang="en-US" sz="2800" dirty="0"/>
          </a:p>
        </p:txBody>
      </p:sp>
      <p:sp>
        <p:nvSpPr>
          <p:cNvPr id="4" name="Shape 2"/>
          <p:cNvSpPr/>
          <p:nvPr/>
        </p:nvSpPr>
        <p:spPr>
          <a:xfrm>
            <a:off x="822960" y="2331720"/>
            <a:ext cx="10515600" cy="0"/>
          </a:xfrm>
          <a:prstGeom prst="line">
            <a:avLst/>
          </a:prstGeom>
          <a:noFill/>
          <a:ln w="25400">
            <a:solidFill>
              <a:srgbClr val="B8C2CC"/>
            </a:solidFill>
            <a:prstDash val="solid"/>
          </a:ln>
        </p:spPr>
      </p:sp>
      <p:sp>
        <p:nvSpPr>
          <p:cNvPr id="5" name="Shape 3"/>
          <p:cNvSpPr/>
          <p:nvPr/>
        </p:nvSpPr>
        <p:spPr>
          <a:xfrm>
            <a:off x="722376" y="2231136"/>
            <a:ext cx="201168" cy="201168"/>
          </a:xfrm>
          <a:prstGeom prst="ellipse">
            <a:avLst/>
          </a:prstGeom>
          <a:solidFill>
            <a:srgbClr val="A9CBE8"/>
          </a:solidFill>
          <a:ln w="19050">
            <a:solidFill>
              <a:srgbClr val="FFFFFF"/>
            </a:solidFill>
            <a:prstDash val="solid"/>
          </a:ln>
        </p:spPr>
      </p:sp>
      <p:sp>
        <p:nvSpPr>
          <p:cNvPr id="6" name="Text 4"/>
          <p:cNvSpPr txBox="1"/>
          <p:nvPr/>
        </p:nvSpPr>
        <p:spPr>
          <a:xfrm>
            <a:off x="182880" y="1874520"/>
            <a:ext cx="1280160" cy="27432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1973</a:t>
            </a:r>
            <a:endParaRPr lang="en-US" sz="1200" dirty="0"/>
          </a:p>
        </p:txBody>
      </p:sp>
      <p:sp>
        <p:nvSpPr>
          <p:cNvPr id="7" name="Text 5"/>
          <p:cNvSpPr txBox="1"/>
          <p:nvPr/>
        </p:nvSpPr>
        <p:spPr>
          <a:xfrm>
            <a:off x="109728" y="2496312"/>
            <a:ext cx="1426464" cy="457200"/>
          </a:xfrm>
          <a:prstGeom prst="rect">
            <a:avLst/>
          </a:prstGeom>
          <a:noFill/>
          <a:ln/>
        </p:spPr>
        <p:txBody>
          <a:bodyPr wrap="square" lIns="0" tIns="0" rIns="0" bIns="0" rtlCol="0" anchor="t"/>
          <a:lstStyle/>
          <a:p>
            <a:pPr algn="ctr" indent="0" marL="0">
              <a:buNone/>
            </a:pPr>
            <a:r>
              <a:rPr lang="en-US" sz="1000" dirty="0">
                <a:solidFill>
                  <a:srgbClr val="22303F"/>
                </a:solidFill>
                <a:latin typeface="Calibri" pitchFamily="34" charset="0"/>
                <a:ea typeface="Calibri" pitchFamily="34" charset="-122"/>
                <a:cs typeface="Calibri" pitchFamily="34" charset="-120"/>
              </a:rPr>
              <a:t>Loi Royer</a:t>
            </a:r>
            <a:endParaRPr lang="en-US" sz="1000" dirty="0"/>
          </a:p>
        </p:txBody>
      </p:sp>
      <p:sp>
        <p:nvSpPr>
          <p:cNvPr id="8" name="Shape 6"/>
          <p:cNvSpPr/>
          <p:nvPr/>
        </p:nvSpPr>
        <p:spPr>
          <a:xfrm>
            <a:off x="2224605" y="2231136"/>
            <a:ext cx="201168" cy="201168"/>
          </a:xfrm>
          <a:prstGeom prst="ellipse">
            <a:avLst/>
          </a:prstGeom>
          <a:solidFill>
            <a:srgbClr val="A9CBE8"/>
          </a:solidFill>
          <a:ln w="19050">
            <a:solidFill>
              <a:srgbClr val="FFFFFF"/>
            </a:solidFill>
            <a:prstDash val="solid"/>
          </a:ln>
        </p:spPr>
      </p:sp>
      <p:sp>
        <p:nvSpPr>
          <p:cNvPr id="9" name="Text 7"/>
          <p:cNvSpPr txBox="1"/>
          <p:nvPr/>
        </p:nvSpPr>
        <p:spPr>
          <a:xfrm>
            <a:off x="1685109" y="1874520"/>
            <a:ext cx="1280160" cy="27432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1996</a:t>
            </a:r>
            <a:endParaRPr lang="en-US" sz="1200" dirty="0"/>
          </a:p>
        </p:txBody>
      </p:sp>
      <p:sp>
        <p:nvSpPr>
          <p:cNvPr id="10" name="Text 8"/>
          <p:cNvSpPr txBox="1"/>
          <p:nvPr/>
        </p:nvSpPr>
        <p:spPr>
          <a:xfrm>
            <a:off x="1611957" y="2496312"/>
            <a:ext cx="1426464" cy="457200"/>
          </a:xfrm>
          <a:prstGeom prst="rect">
            <a:avLst/>
          </a:prstGeom>
          <a:noFill/>
          <a:ln/>
        </p:spPr>
        <p:txBody>
          <a:bodyPr wrap="square" lIns="0" tIns="0" rIns="0" bIns="0" rtlCol="0" anchor="t"/>
          <a:lstStyle/>
          <a:p>
            <a:pPr algn="ctr" indent="0" marL="0">
              <a:buNone/>
            </a:pPr>
            <a:r>
              <a:rPr lang="en-US" sz="1000" dirty="0">
                <a:solidFill>
                  <a:srgbClr val="22303F"/>
                </a:solidFill>
                <a:latin typeface="Calibri" pitchFamily="34" charset="0"/>
                <a:ea typeface="Calibri" pitchFamily="34" charset="-122"/>
                <a:cs typeface="Calibri" pitchFamily="34" charset="-120"/>
              </a:rPr>
              <a:t>Loi Raffarin</a:t>
            </a:r>
            <a:endParaRPr lang="en-US" sz="1000" dirty="0"/>
          </a:p>
        </p:txBody>
      </p:sp>
      <p:sp>
        <p:nvSpPr>
          <p:cNvPr id="11" name="Shape 9"/>
          <p:cNvSpPr/>
          <p:nvPr/>
        </p:nvSpPr>
        <p:spPr>
          <a:xfrm>
            <a:off x="3726833" y="2231136"/>
            <a:ext cx="201168" cy="201168"/>
          </a:xfrm>
          <a:prstGeom prst="ellipse">
            <a:avLst/>
          </a:prstGeom>
          <a:solidFill>
            <a:srgbClr val="A9CBE8"/>
          </a:solidFill>
          <a:ln w="19050">
            <a:solidFill>
              <a:srgbClr val="FFFFFF"/>
            </a:solidFill>
            <a:prstDash val="solid"/>
          </a:ln>
        </p:spPr>
      </p:sp>
      <p:sp>
        <p:nvSpPr>
          <p:cNvPr id="12" name="Text 10"/>
          <p:cNvSpPr txBox="1"/>
          <p:nvPr/>
        </p:nvSpPr>
        <p:spPr>
          <a:xfrm>
            <a:off x="3187337" y="1874520"/>
            <a:ext cx="1280160" cy="27432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2008</a:t>
            </a:r>
            <a:endParaRPr lang="en-US" sz="1200" dirty="0"/>
          </a:p>
        </p:txBody>
      </p:sp>
      <p:sp>
        <p:nvSpPr>
          <p:cNvPr id="13" name="Text 11"/>
          <p:cNvSpPr txBox="1"/>
          <p:nvPr/>
        </p:nvSpPr>
        <p:spPr>
          <a:xfrm>
            <a:off x="3114185" y="2496312"/>
            <a:ext cx="1426464" cy="457200"/>
          </a:xfrm>
          <a:prstGeom prst="rect">
            <a:avLst/>
          </a:prstGeom>
          <a:noFill/>
          <a:ln/>
        </p:spPr>
        <p:txBody>
          <a:bodyPr wrap="square" lIns="0" tIns="0" rIns="0" bIns="0" rtlCol="0" anchor="t"/>
          <a:lstStyle/>
          <a:p>
            <a:pPr algn="ctr" indent="0" marL="0">
              <a:buNone/>
            </a:pPr>
            <a:r>
              <a:rPr lang="en-US" sz="1000" dirty="0">
                <a:solidFill>
                  <a:srgbClr val="22303F"/>
                </a:solidFill>
                <a:latin typeface="Calibri" pitchFamily="34" charset="0"/>
                <a:ea typeface="Calibri" pitchFamily="34" charset="-122"/>
                <a:cs typeface="Calibri" pitchFamily="34" charset="-120"/>
              </a:rPr>
              <a:t>LME</a:t>
            </a:r>
            <a:endParaRPr lang="en-US" sz="1000" dirty="0"/>
          </a:p>
        </p:txBody>
      </p:sp>
      <p:sp>
        <p:nvSpPr>
          <p:cNvPr id="14" name="Shape 12"/>
          <p:cNvSpPr/>
          <p:nvPr/>
        </p:nvSpPr>
        <p:spPr>
          <a:xfrm>
            <a:off x="5229062" y="2231136"/>
            <a:ext cx="201168" cy="201168"/>
          </a:xfrm>
          <a:prstGeom prst="ellipse">
            <a:avLst/>
          </a:prstGeom>
          <a:solidFill>
            <a:srgbClr val="2E6DB4"/>
          </a:solidFill>
          <a:ln w="19050">
            <a:solidFill>
              <a:srgbClr val="FFFFFF"/>
            </a:solidFill>
            <a:prstDash val="solid"/>
          </a:ln>
        </p:spPr>
      </p:sp>
      <p:sp>
        <p:nvSpPr>
          <p:cNvPr id="15" name="Text 13"/>
          <p:cNvSpPr txBox="1"/>
          <p:nvPr/>
        </p:nvSpPr>
        <p:spPr>
          <a:xfrm>
            <a:off x="4689566" y="1874520"/>
            <a:ext cx="1280160" cy="27432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2014</a:t>
            </a:r>
            <a:endParaRPr lang="en-US" sz="1200" dirty="0"/>
          </a:p>
        </p:txBody>
      </p:sp>
      <p:sp>
        <p:nvSpPr>
          <p:cNvPr id="16" name="Text 14"/>
          <p:cNvSpPr txBox="1"/>
          <p:nvPr/>
        </p:nvSpPr>
        <p:spPr>
          <a:xfrm>
            <a:off x="4616414" y="2496312"/>
            <a:ext cx="1426464" cy="457200"/>
          </a:xfrm>
          <a:prstGeom prst="rect">
            <a:avLst/>
          </a:prstGeom>
          <a:noFill/>
          <a:ln/>
        </p:spPr>
        <p:txBody>
          <a:bodyPr wrap="square" lIns="0" tIns="0" rIns="0" bIns="0" rtlCol="0" anchor="t"/>
          <a:lstStyle/>
          <a:p>
            <a:pPr algn="ctr" indent="0" marL="0">
              <a:buNone/>
            </a:pPr>
            <a:r>
              <a:rPr lang="en-US" sz="1000" dirty="0">
                <a:solidFill>
                  <a:srgbClr val="22303F"/>
                </a:solidFill>
                <a:latin typeface="Calibri" pitchFamily="34" charset="0"/>
                <a:ea typeface="Calibri" pitchFamily="34" charset="-122"/>
                <a:cs typeface="Calibri" pitchFamily="34" charset="-120"/>
              </a:rPr>
              <a:t>ALUR / Pinel : DAAC</a:t>
            </a:r>
            <a:endParaRPr lang="en-US" sz="1000" dirty="0"/>
          </a:p>
        </p:txBody>
      </p:sp>
      <p:sp>
        <p:nvSpPr>
          <p:cNvPr id="17" name="Shape 15"/>
          <p:cNvSpPr/>
          <p:nvPr/>
        </p:nvSpPr>
        <p:spPr>
          <a:xfrm>
            <a:off x="6731290" y="2231136"/>
            <a:ext cx="201168" cy="201168"/>
          </a:xfrm>
          <a:prstGeom prst="ellipse">
            <a:avLst/>
          </a:prstGeom>
          <a:solidFill>
            <a:srgbClr val="2E6DB4"/>
          </a:solidFill>
          <a:ln w="19050">
            <a:solidFill>
              <a:srgbClr val="FFFFFF"/>
            </a:solidFill>
            <a:prstDash val="solid"/>
          </a:ln>
        </p:spPr>
      </p:sp>
      <p:sp>
        <p:nvSpPr>
          <p:cNvPr id="18" name="Text 16"/>
          <p:cNvSpPr txBox="1"/>
          <p:nvPr/>
        </p:nvSpPr>
        <p:spPr>
          <a:xfrm>
            <a:off x="6191794" y="1874520"/>
            <a:ext cx="1280160" cy="27432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2018</a:t>
            </a:r>
            <a:endParaRPr lang="en-US" sz="1200" dirty="0"/>
          </a:p>
        </p:txBody>
      </p:sp>
      <p:sp>
        <p:nvSpPr>
          <p:cNvPr id="19" name="Text 17"/>
          <p:cNvSpPr txBox="1"/>
          <p:nvPr/>
        </p:nvSpPr>
        <p:spPr>
          <a:xfrm>
            <a:off x="6118642" y="2496312"/>
            <a:ext cx="1426464" cy="457200"/>
          </a:xfrm>
          <a:prstGeom prst="rect">
            <a:avLst/>
          </a:prstGeom>
          <a:noFill/>
          <a:ln/>
        </p:spPr>
        <p:txBody>
          <a:bodyPr wrap="square" lIns="0" tIns="0" rIns="0" bIns="0" rtlCol="0" anchor="t"/>
          <a:lstStyle/>
          <a:p>
            <a:pPr algn="ctr" indent="0" marL="0">
              <a:buNone/>
            </a:pPr>
            <a:r>
              <a:rPr lang="en-US" sz="1000" dirty="0">
                <a:solidFill>
                  <a:srgbClr val="22303F"/>
                </a:solidFill>
                <a:latin typeface="Calibri" pitchFamily="34" charset="0"/>
                <a:ea typeface="Calibri" pitchFamily="34" charset="-122"/>
                <a:cs typeface="Calibri" pitchFamily="34" charset="-120"/>
              </a:rPr>
              <a:t>ELAN : ORT</a:t>
            </a:r>
            <a:endParaRPr lang="en-US" sz="1000" dirty="0"/>
          </a:p>
        </p:txBody>
      </p:sp>
      <p:sp>
        <p:nvSpPr>
          <p:cNvPr id="20" name="Shape 18"/>
          <p:cNvSpPr/>
          <p:nvPr/>
        </p:nvSpPr>
        <p:spPr>
          <a:xfrm>
            <a:off x="8233519" y="2231136"/>
            <a:ext cx="201168" cy="201168"/>
          </a:xfrm>
          <a:prstGeom prst="ellipse">
            <a:avLst/>
          </a:prstGeom>
          <a:solidFill>
            <a:srgbClr val="2E6DB4"/>
          </a:solidFill>
          <a:ln w="19050">
            <a:solidFill>
              <a:srgbClr val="FFFFFF"/>
            </a:solidFill>
            <a:prstDash val="solid"/>
          </a:ln>
        </p:spPr>
      </p:sp>
      <p:sp>
        <p:nvSpPr>
          <p:cNvPr id="21" name="Text 19"/>
          <p:cNvSpPr txBox="1"/>
          <p:nvPr/>
        </p:nvSpPr>
        <p:spPr>
          <a:xfrm>
            <a:off x="7694023" y="1874520"/>
            <a:ext cx="1280160" cy="27432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2021</a:t>
            </a:r>
            <a:endParaRPr lang="en-US" sz="1200" dirty="0"/>
          </a:p>
        </p:txBody>
      </p:sp>
      <p:sp>
        <p:nvSpPr>
          <p:cNvPr id="22" name="Text 20"/>
          <p:cNvSpPr txBox="1"/>
          <p:nvPr/>
        </p:nvSpPr>
        <p:spPr>
          <a:xfrm>
            <a:off x="7620871" y="2496312"/>
            <a:ext cx="1426464" cy="457200"/>
          </a:xfrm>
          <a:prstGeom prst="rect">
            <a:avLst/>
          </a:prstGeom>
          <a:noFill/>
          <a:ln/>
        </p:spPr>
        <p:txBody>
          <a:bodyPr wrap="square" lIns="0" tIns="0" rIns="0" bIns="0" rtlCol="0" anchor="t"/>
          <a:lstStyle/>
          <a:p>
            <a:pPr algn="ctr" indent="0" marL="0">
              <a:buNone/>
            </a:pPr>
            <a:r>
              <a:rPr lang="en-US" sz="1000" dirty="0">
                <a:solidFill>
                  <a:srgbClr val="22303F"/>
                </a:solidFill>
                <a:latin typeface="Calibri" pitchFamily="34" charset="0"/>
                <a:ea typeface="Calibri" pitchFamily="34" charset="-122"/>
                <a:cs typeface="Calibri" pitchFamily="34" charset="-120"/>
              </a:rPr>
              <a:t>Climat &amp; résilience : ZAN</a:t>
            </a:r>
            <a:endParaRPr lang="en-US" sz="1000" dirty="0"/>
          </a:p>
        </p:txBody>
      </p:sp>
      <p:sp>
        <p:nvSpPr>
          <p:cNvPr id="23" name="Shape 21"/>
          <p:cNvSpPr/>
          <p:nvPr/>
        </p:nvSpPr>
        <p:spPr>
          <a:xfrm>
            <a:off x="9735747" y="2231136"/>
            <a:ext cx="201168" cy="201168"/>
          </a:xfrm>
          <a:prstGeom prst="ellipse">
            <a:avLst/>
          </a:prstGeom>
          <a:solidFill>
            <a:srgbClr val="2E6DB4"/>
          </a:solidFill>
          <a:ln w="19050">
            <a:solidFill>
              <a:srgbClr val="FFFFFF"/>
            </a:solidFill>
            <a:prstDash val="solid"/>
          </a:ln>
        </p:spPr>
      </p:sp>
      <p:sp>
        <p:nvSpPr>
          <p:cNvPr id="24" name="Text 22"/>
          <p:cNvSpPr txBox="1"/>
          <p:nvPr/>
        </p:nvSpPr>
        <p:spPr>
          <a:xfrm>
            <a:off x="9196251" y="1874520"/>
            <a:ext cx="1280160" cy="27432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2023</a:t>
            </a:r>
            <a:endParaRPr lang="en-US" sz="1200" dirty="0"/>
          </a:p>
        </p:txBody>
      </p:sp>
      <p:sp>
        <p:nvSpPr>
          <p:cNvPr id="25" name="Text 23"/>
          <p:cNvSpPr txBox="1"/>
          <p:nvPr/>
        </p:nvSpPr>
        <p:spPr>
          <a:xfrm>
            <a:off x="9123099" y="2496312"/>
            <a:ext cx="1426464" cy="457200"/>
          </a:xfrm>
          <a:prstGeom prst="rect">
            <a:avLst/>
          </a:prstGeom>
          <a:noFill/>
          <a:ln/>
        </p:spPr>
        <p:txBody>
          <a:bodyPr wrap="square" lIns="0" tIns="0" rIns="0" bIns="0" rtlCol="0" anchor="t"/>
          <a:lstStyle/>
          <a:p>
            <a:pPr algn="ctr" indent="0" marL="0">
              <a:buNone/>
            </a:pPr>
            <a:r>
              <a:rPr lang="en-US" sz="1000" dirty="0">
                <a:solidFill>
                  <a:srgbClr val="22303F"/>
                </a:solidFill>
                <a:latin typeface="Calibri" pitchFamily="34" charset="0"/>
                <a:ea typeface="Calibri" pitchFamily="34" charset="-122"/>
                <a:cs typeface="Calibri" pitchFamily="34" charset="-120"/>
              </a:rPr>
              <a:t>Plan zones commerciales</a:t>
            </a:r>
            <a:endParaRPr lang="en-US" sz="1000" dirty="0"/>
          </a:p>
        </p:txBody>
      </p:sp>
      <p:sp>
        <p:nvSpPr>
          <p:cNvPr id="26" name="Shape 24"/>
          <p:cNvSpPr/>
          <p:nvPr/>
        </p:nvSpPr>
        <p:spPr>
          <a:xfrm>
            <a:off x="11237976" y="2231136"/>
            <a:ext cx="201168" cy="201168"/>
          </a:xfrm>
          <a:prstGeom prst="ellipse">
            <a:avLst/>
          </a:prstGeom>
          <a:solidFill>
            <a:srgbClr val="2E6DB4"/>
          </a:solidFill>
          <a:ln w="19050">
            <a:solidFill>
              <a:srgbClr val="FFFFFF"/>
            </a:solidFill>
            <a:prstDash val="solid"/>
          </a:ln>
        </p:spPr>
      </p:sp>
      <p:sp>
        <p:nvSpPr>
          <p:cNvPr id="27" name="Text 25"/>
          <p:cNvSpPr txBox="1"/>
          <p:nvPr/>
        </p:nvSpPr>
        <p:spPr>
          <a:xfrm>
            <a:off x="10698480" y="1874520"/>
            <a:ext cx="1280160" cy="27432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2026</a:t>
            </a:r>
            <a:endParaRPr lang="en-US" sz="1200" dirty="0"/>
          </a:p>
        </p:txBody>
      </p:sp>
      <p:sp>
        <p:nvSpPr>
          <p:cNvPr id="28" name="Text 26"/>
          <p:cNvSpPr txBox="1"/>
          <p:nvPr/>
        </p:nvSpPr>
        <p:spPr>
          <a:xfrm>
            <a:off x="10625328" y="2496312"/>
            <a:ext cx="1426464" cy="457200"/>
          </a:xfrm>
          <a:prstGeom prst="rect">
            <a:avLst/>
          </a:prstGeom>
          <a:noFill/>
          <a:ln/>
        </p:spPr>
        <p:txBody>
          <a:bodyPr wrap="square" lIns="0" tIns="0" rIns="0" bIns="0" rtlCol="0" anchor="t"/>
          <a:lstStyle/>
          <a:p>
            <a:pPr algn="ctr" indent="0" marL="0">
              <a:buNone/>
            </a:pPr>
            <a:r>
              <a:rPr lang="en-US" sz="1000" dirty="0">
                <a:solidFill>
                  <a:srgbClr val="22303F"/>
                </a:solidFill>
                <a:latin typeface="Calibri" pitchFamily="34" charset="0"/>
                <a:ea typeface="Calibri" pitchFamily="34" charset="-122"/>
                <a:cs typeface="Calibri" pitchFamily="34" charset="-120"/>
              </a:rPr>
              <a:t>Loi de simplification</a:t>
            </a:r>
            <a:endParaRPr lang="en-US" sz="1000" dirty="0"/>
          </a:p>
        </p:txBody>
      </p:sp>
      <p:sp>
        <p:nvSpPr>
          <p:cNvPr id="29" name="Text 27"/>
          <p:cNvSpPr txBox="1"/>
          <p:nvPr/>
        </p:nvSpPr>
        <p:spPr>
          <a:xfrm>
            <a:off x="548640" y="1627632"/>
            <a:ext cx="3291840" cy="256032"/>
          </a:xfrm>
          <a:prstGeom prst="rect">
            <a:avLst/>
          </a:prstGeom>
          <a:noFill/>
          <a:ln/>
        </p:spPr>
        <p:txBody>
          <a:bodyPr wrap="square" lIns="0" tIns="0" rIns="0" bIns="0" rtlCol="0" anchor="ctr"/>
          <a:lstStyle/>
          <a:p>
            <a:pPr indent="0" marL="0">
              <a:buNone/>
            </a:pPr>
            <a:r>
              <a:rPr lang="en-US" sz="1050" i="1" dirty="0">
                <a:solidFill>
                  <a:srgbClr val="5F6B7A"/>
                </a:solidFill>
                <a:latin typeface="Calibri" pitchFamily="34" charset="0"/>
                <a:ea typeface="Calibri" pitchFamily="34" charset="-122"/>
                <a:cs typeface="Calibri" pitchFamily="34" charset="-120"/>
              </a:rPr>
              <a:t>Protéger le petit commerce</a:t>
            </a:r>
            <a:endParaRPr lang="en-US" sz="1050" dirty="0"/>
          </a:p>
        </p:txBody>
      </p:sp>
      <p:sp>
        <p:nvSpPr>
          <p:cNvPr id="30" name="Text 28"/>
          <p:cNvSpPr txBox="1"/>
          <p:nvPr/>
        </p:nvSpPr>
        <p:spPr>
          <a:xfrm>
            <a:off x="8059783" y="1627632"/>
            <a:ext cx="3291840" cy="256032"/>
          </a:xfrm>
          <a:prstGeom prst="rect">
            <a:avLst/>
          </a:prstGeom>
          <a:noFill/>
          <a:ln/>
        </p:spPr>
        <p:txBody>
          <a:bodyPr wrap="square" lIns="0" tIns="0" rIns="0" bIns="0" rtlCol="0" anchor="ctr"/>
          <a:lstStyle/>
          <a:p>
            <a:pPr indent="0" marL="0">
              <a:buNone/>
            </a:pPr>
            <a:r>
              <a:rPr lang="en-US" sz="1050" i="1" dirty="0">
                <a:solidFill>
                  <a:srgbClr val="2E6DB4"/>
                </a:solidFill>
                <a:latin typeface="Calibri" pitchFamily="34" charset="0"/>
                <a:ea typeface="Calibri" pitchFamily="34" charset="-122"/>
                <a:cs typeface="Calibri" pitchFamily="34" charset="-120"/>
              </a:rPr>
              <a:t>Protéger les sols</a:t>
            </a:r>
            <a:endParaRPr lang="en-US" sz="1050" dirty="0"/>
          </a:p>
        </p:txBody>
      </p:sp>
      <p:sp>
        <p:nvSpPr>
          <p:cNvPr id="31" name="Shape 29"/>
          <p:cNvSpPr/>
          <p:nvPr/>
        </p:nvSpPr>
        <p:spPr>
          <a:xfrm>
            <a:off x="548640" y="3154680"/>
            <a:ext cx="2926080" cy="3108960"/>
          </a:xfrm>
          <a:prstGeom prst="rect">
            <a:avLst/>
          </a:prstGeom>
          <a:solidFill>
            <a:srgbClr val="1B2A4A"/>
          </a:solidFill>
          <a:ln w="12700">
            <a:solidFill>
              <a:srgbClr val="1B2A4A"/>
            </a:solidFill>
            <a:prstDash val="solid"/>
          </a:ln>
        </p:spPr>
      </p:sp>
      <p:sp>
        <p:nvSpPr>
          <p:cNvPr id="32" name="Text 30"/>
          <p:cNvSpPr txBox="1"/>
          <p:nvPr/>
        </p:nvSpPr>
        <p:spPr>
          <a:xfrm>
            <a:off x="777240" y="3337560"/>
            <a:ext cx="25603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31,4 M€</a:t>
            </a:r>
            <a:endParaRPr lang="en-US" sz="3200" dirty="0"/>
          </a:p>
        </p:txBody>
      </p:sp>
      <p:sp>
        <p:nvSpPr>
          <p:cNvPr id="33" name="Text 31"/>
          <p:cNvSpPr txBox="1"/>
          <p:nvPr/>
        </p:nvSpPr>
        <p:spPr>
          <a:xfrm>
            <a:off x="777240" y="4023360"/>
            <a:ext cx="2514600" cy="10972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pour 90 projets lauréats du plan de transformation (2024), face à plus de 1 500 zones</a:t>
            </a:r>
            <a:endParaRPr lang="en-US" sz="1300" dirty="0"/>
          </a:p>
        </p:txBody>
      </p:sp>
      <p:sp>
        <p:nvSpPr>
          <p:cNvPr id="34" name="Text 32"/>
          <p:cNvSpPr txBox="1"/>
          <p:nvPr/>
        </p:nvSpPr>
        <p:spPr>
          <a:xfrm>
            <a:off x="777240" y="5440680"/>
            <a:ext cx="2560320" cy="548640"/>
          </a:xfrm>
          <a:prstGeom prst="rect">
            <a:avLst/>
          </a:prstGeom>
          <a:noFill/>
          <a:ln/>
        </p:spPr>
        <p:txBody>
          <a:bodyPr wrap="square" lIns="0" tIns="0" rIns="0" bIns="0" rtlCol="0" anchor="ctr"/>
          <a:lstStyle/>
          <a:p>
            <a:pPr indent="0" marL="0">
              <a:buNone/>
            </a:pPr>
            <a:r>
              <a:rPr lang="en-US" sz="1600" b="1" dirty="0">
                <a:solidFill>
                  <a:srgbClr val="A9CBE8"/>
                </a:solidFill>
                <a:latin typeface="Cambria" pitchFamily="34" charset="0"/>
                <a:ea typeface="Cambria" pitchFamily="34" charset="-122"/>
                <a:cs typeface="Cambria" pitchFamily="34" charset="-120"/>
              </a:rPr>
              <a:t>≈ 21 000 € par zone</a:t>
            </a:r>
            <a:endParaRPr lang="en-US" sz="1600" dirty="0"/>
          </a:p>
        </p:txBody>
      </p:sp>
      <p:sp>
        <p:nvSpPr>
          <p:cNvPr id="35" name="Shape 33"/>
          <p:cNvSpPr/>
          <p:nvPr/>
        </p:nvSpPr>
        <p:spPr>
          <a:xfrm>
            <a:off x="3657600" y="3154680"/>
            <a:ext cx="3749040" cy="3108960"/>
          </a:xfrm>
          <a:prstGeom prst="rect">
            <a:avLst/>
          </a:prstGeom>
          <a:solidFill>
            <a:srgbClr val="EEF2F7"/>
          </a:solidFill>
          <a:ln w="12700">
            <a:solidFill>
              <a:srgbClr val="EEF2F7"/>
            </a:solidFill>
            <a:prstDash val="solid"/>
          </a:ln>
        </p:spPr>
      </p:sp>
      <p:sp>
        <p:nvSpPr>
          <p:cNvPr id="36" name="Text 34"/>
          <p:cNvSpPr txBox="1"/>
          <p:nvPr/>
        </p:nvSpPr>
        <p:spPr>
          <a:xfrm>
            <a:off x="3886200" y="3337560"/>
            <a:ext cx="3337560" cy="41148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Montigny-lès-Cormeilles (Val-d'Oise)</a:t>
            </a:r>
            <a:endParaRPr lang="en-US" sz="1600" dirty="0"/>
          </a:p>
        </p:txBody>
      </p:sp>
      <p:sp>
        <p:nvSpPr>
          <p:cNvPr id="37" name="Text 35"/>
          <p:cNvSpPr txBox="1"/>
          <p:nvPr/>
        </p:nvSpPr>
        <p:spPr>
          <a:xfrm>
            <a:off x="3886200" y="3840480"/>
            <a:ext cx="3337560" cy="2377440"/>
          </a:xfrm>
          <a:prstGeom prst="rect">
            <a:avLst/>
          </a:prstGeom>
          <a:noFill/>
          <a:ln/>
        </p:spPr>
        <p:txBody>
          <a:bodyPr wrap="square" lIns="0" tIns="0" rIns="0" bIns="0" rtlCol="0" anchor="t"/>
          <a:lstStyle/>
          <a:p>
            <a:pPr indent="0" marL="0">
              <a:buNone/>
            </a:pPr>
            <a:r>
              <a:rPr lang="en-US" sz="1250" dirty="0">
                <a:solidFill>
                  <a:srgbClr val="22303F"/>
                </a:solidFill>
                <a:latin typeface="Calibri" pitchFamily="34" charset="0"/>
                <a:ea typeface="Calibri" pitchFamily="34" charset="-122"/>
                <a:cs typeface="Calibri" pitchFamily="34" charset="-120"/>
              </a:rPr>
              <a:t>1,5 km de linéaire commercial et 250 000 m² de surfaces de vente transformés en centre-ville : 900 logements, 24 000 m² de commerces, un parc de 3 ha. Portage foncier par l'EPF Île-de-France et la foncière de la Banque des Territoires.</a:t>
            </a:r>
            <a:endParaRPr lang="en-US" sz="1250" dirty="0"/>
          </a:p>
        </p:txBody>
      </p:sp>
      <p:sp>
        <p:nvSpPr>
          <p:cNvPr id="38" name="Shape 36"/>
          <p:cNvSpPr/>
          <p:nvPr/>
        </p:nvSpPr>
        <p:spPr>
          <a:xfrm>
            <a:off x="7589520" y="3154680"/>
            <a:ext cx="4069080" cy="3108960"/>
          </a:xfrm>
          <a:prstGeom prst="rect">
            <a:avLst/>
          </a:prstGeom>
          <a:solidFill>
            <a:srgbClr val="EEF2F7"/>
          </a:solidFill>
          <a:ln w="12700">
            <a:solidFill>
              <a:srgbClr val="EEF2F7"/>
            </a:solidFill>
            <a:prstDash val="solid"/>
          </a:ln>
        </p:spPr>
      </p:sp>
      <p:sp>
        <p:nvSpPr>
          <p:cNvPr id="39" name="Text 37"/>
          <p:cNvSpPr txBox="1"/>
          <p:nvPr/>
        </p:nvSpPr>
        <p:spPr>
          <a:xfrm>
            <a:off x="7818120" y="3337560"/>
            <a:ext cx="3657600" cy="41148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Pistes de discussion</a:t>
            </a:r>
            <a:endParaRPr lang="en-US" sz="1600" dirty="0"/>
          </a:p>
        </p:txBody>
      </p:sp>
      <p:sp>
        <p:nvSpPr>
          <p:cNvPr id="40" name="Shape 38"/>
          <p:cNvSpPr/>
          <p:nvPr/>
        </p:nvSpPr>
        <p:spPr>
          <a:xfrm>
            <a:off x="7818120" y="3886200"/>
            <a:ext cx="868680" cy="274320"/>
          </a:xfrm>
          <a:prstGeom prst="roundRect">
            <a:avLst>
              <a:gd name="adj" fmla="val 26667"/>
            </a:avLst>
          </a:prstGeom>
          <a:solidFill>
            <a:srgbClr val="2E6DB4"/>
          </a:solidFill>
          <a:ln w="12700">
            <a:solidFill>
              <a:srgbClr val="FFFFFF"/>
            </a:solidFill>
            <a:prstDash val="solid"/>
          </a:ln>
        </p:spPr>
      </p:sp>
      <p:sp>
        <p:nvSpPr>
          <p:cNvPr id="41" name="Text 39"/>
          <p:cNvSpPr txBox="1"/>
          <p:nvPr/>
        </p:nvSpPr>
        <p:spPr>
          <a:xfrm>
            <a:off x="7818120" y="3886200"/>
            <a:ext cx="8686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DGE</a:t>
            </a:r>
            <a:endParaRPr lang="en-US" sz="950" dirty="0"/>
          </a:p>
        </p:txBody>
      </p:sp>
      <p:sp>
        <p:nvSpPr>
          <p:cNvPr id="42" name="Text 40"/>
          <p:cNvSpPr txBox="1"/>
          <p:nvPr/>
        </p:nvSpPr>
        <p:spPr>
          <a:xfrm>
            <a:off x="8796528" y="3840480"/>
            <a:ext cx="2743200" cy="603504"/>
          </a:xfrm>
          <a:prstGeom prst="rect">
            <a:avLst/>
          </a:prstGeom>
          <a:noFill/>
          <a:ln/>
        </p:spPr>
        <p:txBody>
          <a:bodyPr wrap="square" lIns="0" tIns="0" rIns="0" bIns="0" rtlCol="0" anchor="t"/>
          <a:lstStyle/>
          <a:p>
            <a:pPr indent="0" marL="0">
              <a:buNone/>
            </a:pPr>
            <a:r>
              <a:rPr lang="en-US" sz="1050" dirty="0">
                <a:solidFill>
                  <a:srgbClr val="22303F"/>
                </a:solidFill>
                <a:latin typeface="Calibri" pitchFamily="34" charset="0"/>
                <a:ea typeface="Calibri" pitchFamily="34" charset="-122"/>
                <a:cs typeface="Calibri" pitchFamily="34" charset="-120"/>
              </a:rPr>
              <a:t>Changer d'échelle : financer la transformation à la mesure des 1 500 zones</a:t>
            </a:r>
            <a:endParaRPr lang="en-US" sz="1050" dirty="0"/>
          </a:p>
        </p:txBody>
      </p:sp>
      <p:sp>
        <p:nvSpPr>
          <p:cNvPr id="43" name="Shape 41"/>
          <p:cNvSpPr/>
          <p:nvPr/>
        </p:nvSpPr>
        <p:spPr>
          <a:xfrm>
            <a:off x="7818120" y="4489704"/>
            <a:ext cx="868680" cy="274320"/>
          </a:xfrm>
          <a:prstGeom prst="roundRect">
            <a:avLst>
              <a:gd name="adj" fmla="val 26667"/>
            </a:avLst>
          </a:prstGeom>
          <a:solidFill>
            <a:srgbClr val="2E6DB4"/>
          </a:solidFill>
          <a:ln w="12700">
            <a:solidFill>
              <a:srgbClr val="FFFFFF"/>
            </a:solidFill>
            <a:prstDash val="solid"/>
          </a:ln>
        </p:spPr>
      </p:sp>
      <p:sp>
        <p:nvSpPr>
          <p:cNvPr id="44" name="Text 42"/>
          <p:cNvSpPr txBox="1"/>
          <p:nvPr/>
        </p:nvSpPr>
        <p:spPr>
          <a:xfrm>
            <a:off x="7818120" y="4489704"/>
            <a:ext cx="8686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DGE</a:t>
            </a:r>
            <a:endParaRPr lang="en-US" sz="950" dirty="0"/>
          </a:p>
        </p:txBody>
      </p:sp>
      <p:sp>
        <p:nvSpPr>
          <p:cNvPr id="45" name="Text 43"/>
          <p:cNvSpPr txBox="1"/>
          <p:nvPr/>
        </p:nvSpPr>
        <p:spPr>
          <a:xfrm>
            <a:off x="8796528" y="4443984"/>
            <a:ext cx="2743200" cy="603504"/>
          </a:xfrm>
          <a:prstGeom prst="rect">
            <a:avLst/>
          </a:prstGeom>
          <a:noFill/>
          <a:ln/>
        </p:spPr>
        <p:txBody>
          <a:bodyPr wrap="square" lIns="0" tIns="0" rIns="0" bIns="0" rtlCol="0" anchor="t"/>
          <a:lstStyle/>
          <a:p>
            <a:pPr indent="0" marL="0">
              <a:buNone/>
            </a:pPr>
            <a:r>
              <a:rPr lang="en-US" sz="1050" dirty="0">
                <a:solidFill>
                  <a:srgbClr val="22303F"/>
                </a:solidFill>
                <a:latin typeface="Calibri" pitchFamily="34" charset="0"/>
                <a:ea typeface="Calibri" pitchFamily="34" charset="-122"/>
                <a:cs typeface="Calibri" pitchFamily="34" charset="-120"/>
              </a:rPr>
              <a:t>Accompagner la rénovation énergétique du parc imposée par le décret tertiaire</a:t>
            </a:r>
            <a:endParaRPr lang="en-US" sz="1050" dirty="0"/>
          </a:p>
        </p:txBody>
      </p:sp>
      <p:sp>
        <p:nvSpPr>
          <p:cNvPr id="46" name="Shape 44"/>
          <p:cNvSpPr/>
          <p:nvPr/>
        </p:nvSpPr>
        <p:spPr>
          <a:xfrm>
            <a:off x="7818120" y="5093208"/>
            <a:ext cx="868680" cy="274320"/>
          </a:xfrm>
          <a:prstGeom prst="roundRect">
            <a:avLst>
              <a:gd name="adj" fmla="val 26667"/>
            </a:avLst>
          </a:prstGeom>
          <a:solidFill>
            <a:srgbClr val="1B2A4A"/>
          </a:solidFill>
          <a:ln w="12700">
            <a:solidFill>
              <a:srgbClr val="FFFFFF"/>
            </a:solidFill>
            <a:prstDash val="solid"/>
          </a:ln>
        </p:spPr>
      </p:sp>
      <p:sp>
        <p:nvSpPr>
          <p:cNvPr id="47" name="Text 45"/>
          <p:cNvSpPr txBox="1"/>
          <p:nvPr/>
        </p:nvSpPr>
        <p:spPr>
          <a:xfrm>
            <a:off x="7818120" y="5093208"/>
            <a:ext cx="8686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DG GROW</a:t>
            </a:r>
            <a:endParaRPr lang="en-US" sz="950" dirty="0"/>
          </a:p>
        </p:txBody>
      </p:sp>
      <p:sp>
        <p:nvSpPr>
          <p:cNvPr id="48" name="Text 46"/>
          <p:cNvSpPr txBox="1"/>
          <p:nvPr/>
        </p:nvSpPr>
        <p:spPr>
          <a:xfrm>
            <a:off x="8796528" y="5047488"/>
            <a:ext cx="2743200" cy="603504"/>
          </a:xfrm>
          <a:prstGeom prst="rect">
            <a:avLst/>
          </a:prstGeom>
          <a:noFill/>
          <a:ln/>
        </p:spPr>
        <p:txBody>
          <a:bodyPr wrap="square" lIns="0" tIns="0" rIns="0" bIns="0" rtlCol="0" anchor="t"/>
          <a:lstStyle/>
          <a:p>
            <a:pPr indent="0" marL="0">
              <a:buNone/>
            </a:pPr>
            <a:r>
              <a:rPr lang="en-US" sz="1050" dirty="0">
                <a:solidFill>
                  <a:srgbClr val="22303F"/>
                </a:solidFill>
                <a:latin typeface="Calibri" pitchFamily="34" charset="0"/>
                <a:ea typeface="Calibri" pitchFamily="34" charset="-122"/>
                <a:cs typeface="Calibri" pitchFamily="34" charset="-120"/>
              </a:rPr>
              <a:t>Partager les approches européennes de planification commerciale et de sobriété foncière</a:t>
            </a:r>
            <a:endParaRPr lang="en-US" sz="1050" dirty="0"/>
          </a:p>
        </p:txBody>
      </p:sp>
      <p:sp>
        <p:nvSpPr>
          <p:cNvPr id="49" name="Shape 47"/>
          <p:cNvSpPr/>
          <p:nvPr/>
        </p:nvSpPr>
        <p:spPr>
          <a:xfrm>
            <a:off x="7818120" y="5696712"/>
            <a:ext cx="868680" cy="274320"/>
          </a:xfrm>
          <a:prstGeom prst="roundRect">
            <a:avLst>
              <a:gd name="adj" fmla="val 26667"/>
            </a:avLst>
          </a:prstGeom>
          <a:solidFill>
            <a:srgbClr val="1B2A4A"/>
          </a:solidFill>
          <a:ln w="12700">
            <a:solidFill>
              <a:srgbClr val="FFFFFF"/>
            </a:solidFill>
            <a:prstDash val="solid"/>
          </a:ln>
        </p:spPr>
      </p:sp>
      <p:sp>
        <p:nvSpPr>
          <p:cNvPr id="50" name="Text 48"/>
          <p:cNvSpPr txBox="1"/>
          <p:nvPr/>
        </p:nvSpPr>
        <p:spPr>
          <a:xfrm>
            <a:off x="7818120" y="5696712"/>
            <a:ext cx="8686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DG GROW</a:t>
            </a:r>
            <a:endParaRPr lang="en-US" sz="950" dirty="0"/>
          </a:p>
        </p:txBody>
      </p:sp>
      <p:sp>
        <p:nvSpPr>
          <p:cNvPr id="51" name="Text 49"/>
          <p:cNvSpPr txBox="1"/>
          <p:nvPr/>
        </p:nvSpPr>
        <p:spPr>
          <a:xfrm>
            <a:off x="8796528" y="5650992"/>
            <a:ext cx="2743200" cy="603504"/>
          </a:xfrm>
          <a:prstGeom prst="rect">
            <a:avLst/>
          </a:prstGeom>
          <a:noFill/>
          <a:ln/>
        </p:spPr>
        <p:txBody>
          <a:bodyPr wrap="square" lIns="0" tIns="0" rIns="0" bIns="0" rtlCol="0" anchor="t"/>
          <a:lstStyle/>
          <a:p>
            <a:pPr indent="0" marL="0">
              <a:buNone/>
            </a:pPr>
            <a:r>
              <a:rPr lang="en-US" sz="1050" dirty="0">
                <a:solidFill>
                  <a:srgbClr val="22303F"/>
                </a:solidFill>
                <a:latin typeface="Calibri" pitchFamily="34" charset="0"/>
                <a:ea typeface="Calibri" pitchFamily="34" charset="-122"/>
                <a:cs typeface="Calibri" pitchFamily="34" charset="-120"/>
              </a:rPr>
              <a:t>Ouvrir les fonds européens (FEDER) à la reconversion des friches commerciales</a:t>
            </a:r>
            <a:endParaRPr lang="en-US" sz="1050" dirty="0"/>
          </a:p>
        </p:txBody>
      </p:sp>
      <p:sp>
        <p:nvSpPr>
          <p:cNvPr id="52" name="Text 50"/>
          <p:cNvSpPr txBox="1"/>
          <p:nvPr/>
        </p:nvSpPr>
        <p:spPr>
          <a:xfrm>
            <a:off x="548640" y="6419088"/>
            <a:ext cx="11064240" cy="32004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Sources : note de travail DGE ; Cerema, fiche n° 3 « Transformer les périphéries commerciales » ; ANCT ; Banque des Territoires.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Zones commerciales périphériques</dc:title>
  <dc:subject>PptxGenJS Presentation</dc:subject>
  <dc:creator>PptxGenJS</dc:creator>
  <cp:lastModifiedBy>PptxGenJS</cp:lastModifiedBy>
  <cp:revision>1</cp:revision>
  <dcterms:created xsi:type="dcterms:W3CDTF">2026-09-28T12:03:09Z</dcterms:created>
  <dcterms:modified xsi:type="dcterms:W3CDTF">2026-09-28T12:03:09Z</dcterms:modified>
</cp:coreProperties>
</file>