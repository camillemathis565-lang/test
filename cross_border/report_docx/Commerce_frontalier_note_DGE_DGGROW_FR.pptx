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Solde pour la France</c:v>
                </c:pt>
              </c:strCache>
            </c:strRef>
          </c:tx>
          <c:spPr>
            <a:solidFill>
              <a:srgbClr val="2E6DB4"/>
            </a:solidFill>
            <a:effectLst/>
          </c:spPr>
          <c:invertIfNegative val="0"/>
          <c:dLbls>
            <c:numFmt formatCode="+0;-0" sourceLinked="0"/>
            <c:txPr>
              <a:bodyPr/>
              <a:lstStyle/>
              <a:p>
                <a:pPr>
                  <a:defRPr b="0" i="0" strike="noStrike" sz="1100" u="none">
                    <a:solidFill>
                      <a:srgbClr val="22303F"/>
                    </a:solidFill>
                    <a:latin typeface="Arial"/>
                  </a:defRPr>
                </a:pPr>
              </a:p>
            </c:txPr>
            <c:showLegendKey val="0"/>
            <c:showVal val="1"/>
            <c:showCatName val="0"/>
            <c:showSerName val="0"/>
            <c:showPercent val="0"/>
            <c:showBubbleSize val="0"/>
            <c:showLeaderLines val="0"/>
          </c:dLbls>
          <c:cat>
            <c:multiLvlStrRef>
              <c:f>Sheet1!$A$2:$A$9</c:f>
              <c:multiLvlStrCache>
                <c:ptCount val="8"/>
                <c:lvl>
                  <c:pt idx="0">
                    <c:v>Suisse</c:v>
                  </c:pt>
                  <c:pt idx="1">
                    <c:v>Belgique</c:v>
                  </c:pt>
                  <c:pt idx="2">
                    <c:v>Luxembourg</c:v>
                  </c:pt>
                  <c:pt idx="3">
                    <c:v>Italie</c:v>
                  </c:pt>
                  <c:pt idx="4">
                    <c:v>Andorre</c:v>
                  </c:pt>
                  <c:pt idx="5">
                    <c:v>Monaco</c:v>
                  </c:pt>
                  <c:pt idx="6">
                    <c:v>Espagne</c:v>
                  </c:pt>
                  <c:pt idx="7">
                    <c:v>Allemagne</c:v>
                  </c:pt>
                </c:lvl>
              </c:multiLvlStrCache>
            </c:multiLvlStrRef>
          </c:cat>
          <c:val>
            <c:numRef>
              <c:f>Sheet1!$B$2:$B$9</c:f>
              <c:numCache>
                <c:formatCode>General</c:formatCode>
                <c:ptCount val="8"/>
                <c:pt idx="0">
                  <c:v>619</c:v>
                </c:pt>
                <c:pt idx="1">
                  <c:v>380</c:v>
                </c:pt>
                <c:pt idx="2">
                  <c:v>103</c:v>
                </c:pt>
                <c:pt idx="3">
                  <c:v>59</c:v>
                </c:pt>
                <c:pt idx="4">
                  <c:v>-7</c:v>
                </c:pt>
                <c:pt idx="5">
                  <c:v>-12</c:v>
                </c:pt>
                <c:pt idx="6">
                  <c:v>-447</c:v>
                </c:pt>
                <c:pt idx="7">
                  <c:v>-842</c:v>
                </c:pt>
              </c:numCache>
            </c:numRef>
          </c:val>
        </c:ser>
        <c:dLbls>
          <c:numFmt formatCode="+0;-0" sourceLinked="0"/>
          <c:txPr>
            <a:bodyPr/>
            <a:lstStyle/>
            <a:p>
              <a:pPr>
                <a:defRPr b="0" i="0" strike="noStrike" sz="1100" u="none">
                  <a:solidFill>
                    <a:srgbClr val="22303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200" b="0" i="0" u="none" strike="noStrike">
                <a:solidFill>
                  <a:srgbClr val="22303F"/>
                </a:solidFill>
                <a:latin typeface="Calibri"/>
              </a:defRPr>
            </a:pPr>
            <a:endParaRPr lang="en-US"/>
          </a:p>
        </c:txPr>
        <c:crossAx val="2094734552"/>
        <c:crosses val="autoZero"/>
        <c:auto val="1"/>
        <c:lblAlgn val="ctr"/>
        <c:noMultiLvlLbl val="1"/>
      </c:catAx>
      <c:valAx>
        <c:axId val="2094734552"/>
        <c:scaling>
          <c:orientation val="minMax"/>
          <c:max val="850"/>
          <c:min val="-1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Buralistes</c:v>
                </c:pt>
              </c:strCache>
            </c:strRef>
          </c:tx>
          <c:spPr>
            <a:solidFill>
              <a:srgbClr val="C0504D"/>
            </a:solidFill>
            <a:effectLst/>
          </c:spPr>
          <c:invertIfNegative val="0"/>
          <c:dLbls>
            <c:numFmt formatCode="+0;-0" sourceLinked="0"/>
            <c:txPr>
              <a:bodyPr/>
              <a:lstStyle/>
              <a:p>
                <a:pPr>
                  <a:defRPr b="0" i="0" strike="noStrike" sz="1000" u="none">
                    <a:solidFill>
                      <a:srgbClr val="22303F"/>
                    </a:solidFill>
                    <a:latin typeface="Arial"/>
                  </a:defRPr>
                </a:pPr>
              </a:p>
            </c:txPr>
            <c:showLegendKey val="0"/>
            <c:showVal val="1"/>
            <c:showCatName val="0"/>
            <c:showSerName val="0"/>
            <c:showPercent val="0"/>
            <c:showBubbleSize val="0"/>
            <c:showLeaderLines val="0"/>
          </c:dLbls>
          <c:cat>
            <c:multiLvlStrRef>
              <c:f>Sheet1!$A$2:$A$7</c:f>
              <c:multiLvlStrCache>
                <c:ptCount val="6"/>
                <c:lvl>
                  <c:pt idx="0">
                    <c:v>Espagne</c:v>
                  </c:pt>
                  <c:pt idx="1">
                    <c:v>Italie</c:v>
                  </c:pt>
                  <c:pt idx="2">
                    <c:v>Suisse</c:v>
                  </c:pt>
                  <c:pt idx="3">
                    <c:v>Belgique</c:v>
                  </c:pt>
                  <c:pt idx="4">
                    <c:v>Allemagne</c:v>
                  </c:pt>
                  <c:pt idx="5">
                    <c:v>Luxembourg</c:v>
                  </c:pt>
                </c:lvl>
              </c:multiLvlStrCache>
            </c:multiLvlStrRef>
          </c:cat>
          <c:val>
            <c:numRef>
              <c:f>Sheet1!$B$2:$B$7</c:f>
              <c:numCache>
                <c:formatCode>General</c:formatCode>
                <c:ptCount val="6"/>
                <c:pt idx="0">
                  <c:v>6</c:v>
                </c:pt>
                <c:pt idx="1">
                  <c:v>8</c:v>
                </c:pt>
                <c:pt idx="2">
                  <c:v>-12</c:v>
                </c:pt>
                <c:pt idx="3">
                  <c:v>-31</c:v>
                </c:pt>
                <c:pt idx="4">
                  <c:v>-37</c:v>
                </c:pt>
                <c:pt idx="5">
                  <c:v>-64</c:v>
                </c:pt>
              </c:numCache>
            </c:numRef>
          </c:val>
        </c:ser>
        <c:ser>
          <c:idx val="1"/>
          <c:order val="1"/>
          <c:tx>
            <c:strRef>
              <c:f>Sheet1!$C$1</c:f>
              <c:strCache>
                <c:ptCount val="1"/>
                <c:pt idx="0">
                  <c:v>Stations-service</c:v>
                </c:pt>
              </c:strCache>
            </c:strRef>
          </c:tx>
          <c:spPr>
            <a:solidFill>
              <a:srgbClr val="A9CBE8"/>
            </a:solidFill>
            <a:effectLst/>
          </c:spPr>
          <c:invertIfNegative val="0"/>
          <c:dLbls>
            <c:numFmt formatCode="+0;-0" sourceLinked="0"/>
            <c:txPr>
              <a:bodyPr/>
              <a:lstStyle/>
              <a:p>
                <a:pPr>
                  <a:defRPr b="0" i="0" strike="noStrike" sz="1000" u="none">
                    <a:solidFill>
                      <a:srgbClr val="22303F"/>
                    </a:solidFill>
                    <a:latin typeface="Arial"/>
                  </a:defRPr>
                </a:pPr>
              </a:p>
            </c:txPr>
            <c:showLegendKey val="0"/>
            <c:showVal val="1"/>
            <c:showCatName val="0"/>
            <c:showSerName val="0"/>
            <c:showPercent val="0"/>
            <c:showBubbleSize val="0"/>
            <c:showLeaderLines val="0"/>
          </c:dLbls>
          <c:cat>
            <c:multiLvlStrRef>
              <c:f>Sheet1!$A$2:$A$7</c:f>
              <c:multiLvlStrCache>
                <c:ptCount val="6"/>
                <c:lvl>
                  <c:pt idx="0">
                    <c:v>Espagne</c:v>
                  </c:pt>
                  <c:pt idx="1">
                    <c:v>Italie</c:v>
                  </c:pt>
                  <c:pt idx="2">
                    <c:v>Suisse</c:v>
                  </c:pt>
                  <c:pt idx="3">
                    <c:v>Belgique</c:v>
                  </c:pt>
                  <c:pt idx="4">
                    <c:v>Allemagne</c:v>
                  </c:pt>
                  <c:pt idx="5">
                    <c:v>Luxembourg</c:v>
                  </c:pt>
                </c:lvl>
              </c:multiLvlStrCache>
            </c:multiLvlStrRef>
          </c:cat>
          <c:val>
            <c:numRef>
              <c:f>Sheet1!$C$2:$C$7</c:f>
              <c:numCache>
                <c:formatCode>General</c:formatCode>
                <c:ptCount val="6"/>
                <c:pt idx="0">
                  <c:v>21</c:v>
                </c:pt>
                <c:pt idx="1">
                  <c:v>-7</c:v>
                </c:pt>
                <c:pt idx="2">
                  <c:v>7</c:v>
                </c:pt>
                <c:pt idx="3">
                  <c:v>-33</c:v>
                </c:pt>
                <c:pt idx="4">
                  <c:v>-14</c:v>
                </c:pt>
                <c:pt idx="5">
                  <c:v>-57</c:v>
                </c:pt>
              </c:numCache>
            </c:numRef>
          </c:val>
        </c:ser>
        <c:dLbls>
          <c:numFmt formatCode="+0;-0" sourceLinked="0"/>
          <c:txPr>
            <a:bodyPr/>
            <a:lstStyle/>
            <a:p>
              <a:pPr>
                <a:defRPr b="0" i="0" strike="noStrike" sz="1000" u="none">
                  <a:solidFill>
                    <a:srgbClr val="22303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200" b="0" i="0" u="none" strike="noStrike">
                <a:solidFill>
                  <a:srgbClr val="22303F"/>
                </a:solidFill>
                <a:latin typeface="Calibri"/>
              </a:defRPr>
            </a:pPr>
            <a:endParaRPr lang="en-US"/>
          </a:p>
        </c:txPr>
        <c:crossAx val="2094734552"/>
        <c:crosses val="autoZero"/>
        <c:auto val="1"/>
        <c:lblAlgn val="ctr"/>
        <c:noMultiLvlLbl val="1"/>
      </c:catAx>
      <c:valAx>
        <c:axId val="2094734552"/>
        <c:scaling>
          <c:orientation val="minMax"/>
          <c:max val="35"/>
          <c:min val="-8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principal : la France n'est pas perdante nette sur le commerce général à ses frontières – environ 6 Md€ sortent et 6 Md€ entrent. Le déséquilibre tient aux produits et aux territoires : les achats courants guidés par les prix partent (Allemagne, Espagne, Luxembourg), tandis que la France attire les Suisses et les Belges pour les achats réfléchis. Les pertes se concentrent sur le commerce alimentaire périphérique et quelques départements. Chiffres issus d'un modèle non calé : ce sont des ordres de grandeur.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tabac est le poste où la frontière coûte vraiment au commerce français : environ 9 % de la consommation, soit près de 1,7 Md€ par an, est achetée légalement à l'étranger. L'estimation est calée sur la fermeture des frontières de 2020 et concorde avec l'INSEE et KPMG. L'effet se voit sur le terrain : réseaux de buralistes et de stations-service bien moins denses près du Luxembourg, de l'Allemagne et de la Belgique ; aucun écart près de la Suisse, où les prix sont proches des prix français. Les buralistes sont des indépendants : c'est un sujet PME. Baisser la fiscalité du tabac n'est pas la réponse (la Finlande en 2004 montre le coût sanitaire).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politiques ignorent largement la frontière. Côté français, la priorité est de mieux cibler les outils existants plutôt que d'en créer de nouveaux : un indice d'exposition, une statistique officielle, un soutien aux buralistes proportionnel à l'exposition et un volet transfrontalier dans l'urbanisme commercial. Côté européen, les leviers de la DG GROW sont la convergence des accises, la prochaine génération Interreg, le mécanisme BRIDGEforEU et l'ajout d'une dimension territoriale et frontalière au transition pathway du commerce, avec des statistiques harmonisées sur les achats transfrontaliers.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1 · FLUX COMMERCIAUX TRANSFRONTALIERS</a:t>
            </a:r>
            <a:endParaRPr lang="en-US" sz="1100" dirty="0"/>
          </a:p>
        </p:txBody>
      </p:sp>
      <p:sp>
        <p:nvSpPr>
          <p:cNvPr id="3" name="Text 1"/>
          <p:cNvSpPr txBox="1"/>
          <p:nvPr/>
        </p:nvSpPr>
        <p:spPr>
          <a:xfrm>
            <a:off x="548640" y="621792"/>
            <a:ext cx="11064240" cy="868680"/>
          </a:xfrm>
          <a:prstGeom prst="rect">
            <a:avLst/>
          </a:prstGeom>
          <a:noFill/>
          <a:ln/>
        </p:spPr>
        <p:txBody>
          <a:bodyPr wrap="square" lIns="0" tIns="0" rIns="0" bIns="0" rtlCol="0" anchor="t"/>
          <a:lstStyle/>
          <a:p>
            <a:pPr indent="0" marL="0">
              <a:buNone/>
            </a:pPr>
            <a:r>
              <a:rPr lang="en-US" sz="2800" b="1" dirty="0">
                <a:solidFill>
                  <a:srgbClr val="1B2A4A"/>
                </a:solidFill>
                <a:latin typeface="Cambria" pitchFamily="34" charset="0"/>
                <a:ea typeface="Cambria" pitchFamily="34" charset="-122"/>
                <a:cs typeface="Cambria" pitchFamily="34" charset="-120"/>
              </a:rPr>
              <a:t>La frontière fonctionne dans les deux sens, mais les pertes touchent certains produits et territoires</a:t>
            </a:r>
            <a:endParaRPr lang="en-US" sz="2800" dirty="0"/>
          </a:p>
        </p:txBody>
      </p:sp>
      <p:sp>
        <p:nvSpPr>
          <p:cNvPr id="4" name="Shape 2"/>
          <p:cNvSpPr/>
          <p:nvPr/>
        </p:nvSpPr>
        <p:spPr>
          <a:xfrm>
            <a:off x="548640" y="1691640"/>
            <a:ext cx="2606040" cy="1417320"/>
          </a:xfrm>
          <a:prstGeom prst="rect">
            <a:avLst/>
          </a:prstGeom>
          <a:solidFill>
            <a:srgbClr val="EEF2F7"/>
          </a:solidFill>
          <a:ln w="12700">
            <a:solidFill>
              <a:srgbClr val="EEF2F7"/>
            </a:solidFill>
            <a:prstDash val="solid"/>
          </a:ln>
        </p:spPr>
      </p:sp>
      <p:sp>
        <p:nvSpPr>
          <p:cNvPr id="5" name="Text 3"/>
          <p:cNvSpPr txBox="1"/>
          <p:nvPr/>
        </p:nvSpPr>
        <p:spPr>
          <a:xfrm>
            <a:off x="731520" y="1801368"/>
            <a:ext cx="2240280" cy="566928"/>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6,1 Md€</a:t>
            </a:r>
            <a:endParaRPr lang="en-US" sz="3000" dirty="0"/>
          </a:p>
        </p:txBody>
      </p:sp>
      <p:sp>
        <p:nvSpPr>
          <p:cNvPr id="6" name="Text 4"/>
          <p:cNvSpPr txBox="1"/>
          <p:nvPr/>
        </p:nvSpPr>
        <p:spPr>
          <a:xfrm>
            <a:off x="731520" y="2368296"/>
            <a:ext cx="2240280" cy="658368"/>
          </a:xfrm>
          <a:prstGeom prst="rect">
            <a:avLst/>
          </a:prstGeom>
          <a:noFill/>
          <a:ln/>
        </p:spPr>
        <p:txBody>
          <a:bodyPr wrap="square" lIns="0" tIns="0" rIns="0" bIns="0" rtlCol="0" anchor="t"/>
          <a:lstStyle/>
          <a:p>
            <a:pPr indent="0" marL="0">
              <a:buNone/>
            </a:pPr>
            <a:r>
              <a:rPr lang="en-US" sz="1100" dirty="0">
                <a:solidFill>
                  <a:srgbClr val="22303F"/>
                </a:solidFill>
                <a:latin typeface="Calibri" pitchFamily="34" charset="0"/>
                <a:ea typeface="Calibri" pitchFamily="34" charset="-122"/>
                <a:cs typeface="Calibri" pitchFamily="34" charset="-120"/>
              </a:rPr>
              <a:t>dépensés chaque année à l'étranger par les Français de la bande frontalière</a:t>
            </a:r>
            <a:endParaRPr lang="en-US" sz="1100" dirty="0"/>
          </a:p>
        </p:txBody>
      </p:sp>
      <p:sp>
        <p:nvSpPr>
          <p:cNvPr id="7" name="Shape 5"/>
          <p:cNvSpPr/>
          <p:nvPr/>
        </p:nvSpPr>
        <p:spPr>
          <a:xfrm>
            <a:off x="3291840" y="1691640"/>
            <a:ext cx="2606040" cy="1417320"/>
          </a:xfrm>
          <a:prstGeom prst="rect">
            <a:avLst/>
          </a:prstGeom>
          <a:solidFill>
            <a:srgbClr val="EEF2F7"/>
          </a:solidFill>
          <a:ln w="12700">
            <a:solidFill>
              <a:srgbClr val="EEF2F7"/>
            </a:solidFill>
            <a:prstDash val="solid"/>
          </a:ln>
        </p:spPr>
      </p:sp>
      <p:sp>
        <p:nvSpPr>
          <p:cNvPr id="8" name="Text 6"/>
          <p:cNvSpPr txBox="1"/>
          <p:nvPr/>
        </p:nvSpPr>
        <p:spPr>
          <a:xfrm>
            <a:off x="3474720" y="1801368"/>
            <a:ext cx="2240280" cy="566928"/>
          </a:xfrm>
          <a:prstGeom prst="rect">
            <a:avLst/>
          </a:prstGeom>
          <a:noFill/>
          <a:ln/>
        </p:spPr>
        <p:txBody>
          <a:bodyPr wrap="square" lIns="0" tIns="0" rIns="0" bIns="0" rtlCol="0" anchor="ctr"/>
          <a:lstStyle/>
          <a:p>
            <a:pPr indent="0" marL="0">
              <a:buNone/>
            </a:pPr>
            <a:r>
              <a:rPr lang="en-US" sz="3000" b="1" dirty="0">
                <a:solidFill>
                  <a:srgbClr val="2E6DB4"/>
                </a:solidFill>
                <a:latin typeface="Cambria" pitchFamily="34" charset="0"/>
                <a:ea typeface="Cambria" pitchFamily="34" charset="-122"/>
                <a:cs typeface="Cambria" pitchFamily="34" charset="-120"/>
              </a:rPr>
              <a:t>6,0 Md€</a:t>
            </a:r>
            <a:endParaRPr lang="en-US" sz="3000" dirty="0"/>
          </a:p>
        </p:txBody>
      </p:sp>
      <p:sp>
        <p:nvSpPr>
          <p:cNvPr id="9" name="Text 7"/>
          <p:cNvSpPr txBox="1"/>
          <p:nvPr/>
        </p:nvSpPr>
        <p:spPr>
          <a:xfrm>
            <a:off x="3474720" y="2368296"/>
            <a:ext cx="2240280" cy="658368"/>
          </a:xfrm>
          <a:prstGeom prst="rect">
            <a:avLst/>
          </a:prstGeom>
          <a:noFill/>
          <a:ln/>
        </p:spPr>
        <p:txBody>
          <a:bodyPr wrap="square" lIns="0" tIns="0" rIns="0" bIns="0" rtlCol="0" anchor="t"/>
          <a:lstStyle/>
          <a:p>
            <a:pPr indent="0" marL="0">
              <a:buNone/>
            </a:pPr>
            <a:r>
              <a:rPr lang="en-US" sz="1100" dirty="0">
                <a:solidFill>
                  <a:srgbClr val="22303F"/>
                </a:solidFill>
                <a:latin typeface="Calibri" pitchFamily="34" charset="0"/>
                <a:ea typeface="Calibri" pitchFamily="34" charset="-122"/>
                <a:cs typeface="Calibri" pitchFamily="34" charset="-120"/>
              </a:rPr>
              <a:t>dépensés en France par les résidents des zones frontalières voisines</a:t>
            </a:r>
            <a:endParaRPr lang="en-US" sz="1100" dirty="0"/>
          </a:p>
        </p:txBody>
      </p:sp>
      <p:sp>
        <p:nvSpPr>
          <p:cNvPr id="10" name="Text 8"/>
          <p:cNvSpPr txBox="1"/>
          <p:nvPr/>
        </p:nvSpPr>
        <p:spPr>
          <a:xfrm>
            <a:off x="548640" y="3310128"/>
            <a:ext cx="5349240" cy="2926080"/>
          </a:xfrm>
          <a:prstGeom prst="rect">
            <a:avLst/>
          </a:prstGeom>
          <a:noFill/>
          <a:ln/>
        </p:spPr>
        <p:txBody>
          <a:bodyPr wrap="square" lIns="0" tIns="0" rIns="0" bIns="0" rtlCol="0" anchor="t"/>
          <a:lstStyle/>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La France perd sur les achats courants, gagne sur les achats réfléchis.</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Les Français traversent surtout pour l'alimentation, les boissons et le tabac (3,5 Md€), attirés par les prix. Les voisins viennent pour l'habillement et l'équipement (3,2 Md€).</a:t>
            </a:r>
            <a:endParaRPr lang="en-US" sz="1200" dirty="0"/>
          </a:p>
          <a:p>
            <a:pPr indent="0" marL="0">
              <a:spcAft>
                <a:spcPts val="200"/>
              </a:spcAft>
              <a:buNone/>
            </a:pPr>
            <a:r>
              <a:rPr lang="en-US" sz="600" dirty="0">
                <a:solidFill>
                  <a:srgbClr val="22303F"/>
                </a:solidFill>
                <a:latin typeface="Calibri" pitchFamily="34" charset="0"/>
                <a:ea typeface="Calibri" pitchFamily="34" charset="-122"/>
                <a:cs typeface="Calibri" pitchFamily="34" charset="-120"/>
              </a:rPr>
              <a:t> </a:t>
            </a:r>
            <a:endParaRPr lang="en-US" sz="1200" dirty="0"/>
          </a:p>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Qui supporte la perte.</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Les supermarchés des zones périphériques perdent environ 500 M€ par an ; les commerces de centre-ville gagnent environ 360 M€ sur les achats réfléchis. Les indépendants sont globalement à l'équilibre, sauf les buralistes.</a:t>
            </a:r>
            <a:endParaRPr lang="en-US" sz="1200" dirty="0"/>
          </a:p>
          <a:p>
            <a:pPr indent="0" marL="0">
              <a:spcAft>
                <a:spcPts val="200"/>
              </a:spcAft>
              <a:buNone/>
            </a:pPr>
            <a:r>
              <a:rPr lang="en-US" sz="600" dirty="0">
                <a:solidFill>
                  <a:srgbClr val="22303F"/>
                </a:solidFill>
                <a:latin typeface="Calibri" pitchFamily="34" charset="0"/>
                <a:ea typeface="Calibri" pitchFamily="34" charset="-122"/>
                <a:cs typeface="Calibri" pitchFamily="34" charset="-120"/>
              </a:rPr>
              <a:t> </a:t>
            </a:r>
            <a:endParaRPr lang="en-US" sz="1200" dirty="0"/>
          </a:p>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Où.</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En Moselle, Meurthe-et-Moselle, Pyrénées-Atlantiques et Haut-Rhin, 25 à 35 % des achats réfléchis partent à l'étranger ; le Nord et la Haute-Savoie sont gagnants nets.</a:t>
            </a:r>
            <a:endParaRPr lang="en-US" sz="1200" dirty="0"/>
          </a:p>
        </p:txBody>
      </p:sp>
      <p:sp>
        <p:nvSpPr>
          <p:cNvPr id="11" name="Text 9"/>
          <p:cNvSpPr txBox="1"/>
          <p:nvPr/>
        </p:nvSpPr>
        <p:spPr>
          <a:xfrm>
            <a:off x="6309360" y="1691640"/>
            <a:ext cx="5303520" cy="36576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Solde net des dépenses commerciales pour la France, par pays voisin (M€ par an)</a:t>
            </a:r>
            <a:endParaRPr lang="en-US" sz="1300" dirty="0"/>
          </a:p>
        </p:txBody>
      </p:sp>
      <p:graphicFrame>
        <p:nvGraphicFramePr>
          <p:cNvPr id="12" name="Chart 0" descr=""/>
          <p:cNvGraphicFramePr/>
          <p:nvPr/>
        </p:nvGraphicFramePr>
        <p:xfrm>
          <a:off x="6217920" y="2057400"/>
          <a:ext cx="5440680" cy="406908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419088"/>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Hors carburant ; résidents à moins de 40 km de la frontière. Modèle spatial, ordres de grandeur ; signes robustes pour l'Allemagne, l'Espagne, la Belgique et l'Italie. Source : calculs des auteurs (OpenStreetMap, Eurostat).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2 · PRODUITS SOUMIS À ACCISES</a:t>
            </a:r>
            <a:endParaRPr lang="en-US" sz="1100" dirty="0"/>
          </a:p>
        </p:txBody>
      </p:sp>
      <p:sp>
        <p:nvSpPr>
          <p:cNvPr id="3" name="Text 1"/>
          <p:cNvSpPr txBox="1"/>
          <p:nvPr/>
        </p:nvSpPr>
        <p:spPr>
          <a:xfrm>
            <a:off x="548640" y="621792"/>
            <a:ext cx="11064240" cy="868680"/>
          </a:xfrm>
          <a:prstGeom prst="rect">
            <a:avLst/>
          </a:prstGeom>
          <a:noFill/>
          <a:ln/>
        </p:spPr>
        <p:txBody>
          <a:bodyPr wrap="square" lIns="0" tIns="0" rIns="0" bIns="0" rtlCol="0" anchor="t"/>
          <a:lstStyle/>
          <a:p>
            <a:pPr indent="0" marL="0">
              <a:buNone/>
            </a:pPr>
            <a:r>
              <a:rPr lang="en-US" sz="2800" b="1" dirty="0">
                <a:solidFill>
                  <a:srgbClr val="1B2A4A"/>
                </a:solidFill>
                <a:latin typeface="Cambria" pitchFamily="34" charset="0"/>
                <a:ea typeface="Cambria" pitchFamily="34" charset="-122"/>
                <a:cs typeface="Cambria" pitchFamily="34" charset="-120"/>
              </a:rPr>
              <a:t>Les écarts de fiscalité expliquent l'essentiel de l'évasion, le tabac en tête</a:t>
            </a:r>
            <a:endParaRPr lang="en-US" sz="2800" dirty="0"/>
          </a:p>
        </p:txBody>
      </p:sp>
      <p:sp>
        <p:nvSpPr>
          <p:cNvPr id="4" name="Shape 2"/>
          <p:cNvSpPr/>
          <p:nvPr/>
        </p:nvSpPr>
        <p:spPr>
          <a:xfrm>
            <a:off x="548640" y="1691640"/>
            <a:ext cx="2606040" cy="1417320"/>
          </a:xfrm>
          <a:prstGeom prst="rect">
            <a:avLst/>
          </a:prstGeom>
          <a:solidFill>
            <a:srgbClr val="EEF2F7"/>
          </a:solidFill>
          <a:ln w="12700">
            <a:solidFill>
              <a:srgbClr val="EEF2F7"/>
            </a:solidFill>
            <a:prstDash val="solid"/>
          </a:ln>
        </p:spPr>
      </p:sp>
      <p:sp>
        <p:nvSpPr>
          <p:cNvPr id="5" name="Text 3"/>
          <p:cNvSpPr txBox="1"/>
          <p:nvPr/>
        </p:nvSpPr>
        <p:spPr>
          <a:xfrm>
            <a:off x="731520" y="1801368"/>
            <a:ext cx="2240280" cy="566928"/>
          </a:xfrm>
          <a:prstGeom prst="rect">
            <a:avLst/>
          </a:prstGeom>
          <a:noFill/>
          <a:ln/>
        </p:spPr>
        <p:txBody>
          <a:bodyPr wrap="square" lIns="0" tIns="0" rIns="0" bIns="0" rtlCol="0" anchor="ctr"/>
          <a:lstStyle/>
          <a:p>
            <a:pPr indent="0" marL="0">
              <a:buNone/>
            </a:pPr>
            <a:r>
              <a:rPr lang="en-US" sz="3000" b="1" dirty="0">
                <a:solidFill>
                  <a:srgbClr val="C0504D"/>
                </a:solidFill>
                <a:latin typeface="Cambria" pitchFamily="34" charset="0"/>
                <a:ea typeface="Cambria" pitchFamily="34" charset="-122"/>
                <a:cs typeface="Cambria" pitchFamily="34" charset="-120"/>
              </a:rPr>
              <a:t>9,1 %</a:t>
            </a:r>
            <a:endParaRPr lang="en-US" sz="3000" dirty="0"/>
          </a:p>
        </p:txBody>
      </p:sp>
      <p:sp>
        <p:nvSpPr>
          <p:cNvPr id="6" name="Text 4"/>
          <p:cNvSpPr txBox="1"/>
          <p:nvPr/>
        </p:nvSpPr>
        <p:spPr>
          <a:xfrm>
            <a:off x="731520" y="2368296"/>
            <a:ext cx="2240280" cy="658368"/>
          </a:xfrm>
          <a:prstGeom prst="rect">
            <a:avLst/>
          </a:prstGeom>
          <a:noFill/>
          <a:ln/>
        </p:spPr>
        <p:txBody>
          <a:bodyPr wrap="square" lIns="0" tIns="0" rIns="0" bIns="0" rtlCol="0" anchor="t"/>
          <a:lstStyle/>
          <a:p>
            <a:pPr indent="0" marL="0">
              <a:buNone/>
            </a:pPr>
            <a:r>
              <a:rPr lang="en-US" sz="1100" dirty="0">
                <a:solidFill>
                  <a:srgbClr val="22303F"/>
                </a:solidFill>
                <a:latin typeface="Calibri" pitchFamily="34" charset="0"/>
                <a:ea typeface="Calibri" pitchFamily="34" charset="-122"/>
                <a:cs typeface="Calibri" pitchFamily="34" charset="-120"/>
              </a:rPr>
              <a:t>des cigarettes consommées achetées légalement à l'étranger (≈ 1,7 Md€/an)</a:t>
            </a:r>
            <a:endParaRPr lang="en-US" sz="1100" dirty="0"/>
          </a:p>
        </p:txBody>
      </p:sp>
      <p:sp>
        <p:nvSpPr>
          <p:cNvPr id="7" name="Shape 5"/>
          <p:cNvSpPr/>
          <p:nvPr/>
        </p:nvSpPr>
        <p:spPr>
          <a:xfrm>
            <a:off x="3291840" y="1691640"/>
            <a:ext cx="2606040" cy="1417320"/>
          </a:xfrm>
          <a:prstGeom prst="rect">
            <a:avLst/>
          </a:prstGeom>
          <a:solidFill>
            <a:srgbClr val="EEF2F7"/>
          </a:solidFill>
          <a:ln w="12700">
            <a:solidFill>
              <a:srgbClr val="EEF2F7"/>
            </a:solidFill>
            <a:prstDash val="solid"/>
          </a:ln>
        </p:spPr>
      </p:sp>
      <p:sp>
        <p:nvSpPr>
          <p:cNvPr id="8" name="Text 6"/>
          <p:cNvSpPr txBox="1"/>
          <p:nvPr/>
        </p:nvSpPr>
        <p:spPr>
          <a:xfrm>
            <a:off x="3474720" y="1801368"/>
            <a:ext cx="2240280" cy="566928"/>
          </a:xfrm>
          <a:prstGeom prst="rect">
            <a:avLst/>
          </a:prstGeom>
          <a:noFill/>
          <a:ln/>
        </p:spPr>
        <p:txBody>
          <a:bodyPr wrap="square" lIns="0" tIns="0" rIns="0" bIns="0" rtlCol="0" anchor="ctr"/>
          <a:lstStyle/>
          <a:p>
            <a:pPr indent="0" marL="0">
              <a:buNone/>
            </a:pPr>
            <a:r>
              <a:rPr lang="en-US" sz="3000" b="1" dirty="0">
                <a:solidFill>
                  <a:srgbClr val="C0504D"/>
                </a:solidFill>
                <a:latin typeface="Cambria" pitchFamily="34" charset="0"/>
                <a:ea typeface="Cambria" pitchFamily="34" charset="-122"/>
                <a:cs typeface="Cambria" pitchFamily="34" charset="-120"/>
              </a:rPr>
              <a:t>+50–60 %</a:t>
            </a:r>
            <a:endParaRPr lang="en-US" sz="3000" dirty="0"/>
          </a:p>
        </p:txBody>
      </p:sp>
      <p:sp>
        <p:nvSpPr>
          <p:cNvPr id="9" name="Text 7"/>
          <p:cNvSpPr txBox="1"/>
          <p:nvPr/>
        </p:nvSpPr>
        <p:spPr>
          <a:xfrm>
            <a:off x="3474720" y="2368296"/>
            <a:ext cx="2240280" cy="658368"/>
          </a:xfrm>
          <a:prstGeom prst="rect">
            <a:avLst/>
          </a:prstGeom>
          <a:noFill/>
          <a:ln/>
        </p:spPr>
        <p:txBody>
          <a:bodyPr wrap="square" lIns="0" tIns="0" rIns="0" bIns="0" rtlCol="0" anchor="t"/>
          <a:lstStyle/>
          <a:p>
            <a:pPr indent="0" marL="0">
              <a:buNone/>
            </a:pPr>
            <a:r>
              <a:rPr lang="en-US" sz="1100" dirty="0">
                <a:solidFill>
                  <a:srgbClr val="22303F"/>
                </a:solidFill>
                <a:latin typeface="Calibri" pitchFamily="34" charset="0"/>
                <a:ea typeface="Calibri" pitchFamily="34" charset="-122"/>
                <a:cs typeface="Calibri" pitchFamily="34" charset="-120"/>
              </a:rPr>
              <a:t>de ventes des buralistes si ces achats revenaient (P.-O., Ariège, Moselle)</a:t>
            </a:r>
            <a:endParaRPr lang="en-US" sz="1100" dirty="0"/>
          </a:p>
        </p:txBody>
      </p:sp>
      <p:sp>
        <p:nvSpPr>
          <p:cNvPr id="10" name="Text 8"/>
          <p:cNvSpPr txBox="1"/>
          <p:nvPr/>
        </p:nvSpPr>
        <p:spPr>
          <a:xfrm>
            <a:off x="548640" y="3310128"/>
            <a:ext cx="5349240" cy="2926080"/>
          </a:xfrm>
          <a:prstGeom prst="rect">
            <a:avLst/>
          </a:prstGeom>
          <a:noFill/>
          <a:ln/>
        </p:spPr>
        <p:txBody>
          <a:bodyPr wrap="square" lIns="0" tIns="0" rIns="0" bIns="0" rtlCol="0" anchor="t"/>
          <a:lstStyle/>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Calé sur la fermeture des frontières de 2020.</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Le modèle reproduit le surplus national observé (+10,0 % contre +9,5 %, INSEE) et concorde avec KPMG (11,9 %). On roule jusqu'à une heure pour acheter du tabac.</a:t>
            </a:r>
            <a:endParaRPr lang="en-US" sz="1200" dirty="0"/>
          </a:p>
          <a:p>
            <a:pPr indent="0" marL="0">
              <a:spcAft>
                <a:spcPts val="200"/>
              </a:spcAft>
              <a:buNone/>
            </a:pPr>
            <a:r>
              <a:rPr lang="en-US" sz="600" dirty="0">
                <a:solidFill>
                  <a:srgbClr val="22303F"/>
                </a:solidFill>
                <a:latin typeface="Calibri" pitchFamily="34" charset="0"/>
                <a:ea typeface="Calibri" pitchFamily="34" charset="-122"/>
                <a:cs typeface="Calibri" pitchFamily="34" charset="-120"/>
              </a:rPr>
              <a:t> </a:t>
            </a:r>
            <a:endParaRPr lang="en-US" sz="1200" dirty="0"/>
          </a:p>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Visible dans le tissu commercial.</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À moins de 20 km de la frontière, on compte 25 % de buralistes et 17 % de stations-service en moins par habitant qu'en moyenne nationale, et jusqu'à 64 % de moins près du Luxembourg.</a:t>
            </a:r>
            <a:endParaRPr lang="en-US" sz="1200" dirty="0"/>
          </a:p>
          <a:p>
            <a:pPr indent="0" marL="0">
              <a:spcAft>
                <a:spcPts val="200"/>
              </a:spcAft>
              <a:buNone/>
            </a:pPr>
            <a:r>
              <a:rPr lang="en-US" sz="600" dirty="0">
                <a:solidFill>
                  <a:srgbClr val="22303F"/>
                </a:solidFill>
                <a:latin typeface="Calibri" pitchFamily="34" charset="0"/>
                <a:ea typeface="Calibri" pitchFamily="34" charset="-122"/>
                <a:cs typeface="Calibri" pitchFamily="34" charset="-120"/>
              </a:rPr>
              <a:t> </a:t>
            </a:r>
            <a:endParaRPr lang="en-US" sz="1200" dirty="0"/>
          </a:p>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En Europe, la France est importatrice nette de produits soumis à accises.</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11,9 % des cigarettes consommées sont achetées à l'étranger, contre 1,3 % des ventes françaises vendues à des non-résidents. Le carburant n'est pas mesurable avec les données publiques.</a:t>
            </a:r>
            <a:endParaRPr lang="en-US" sz="1200" dirty="0"/>
          </a:p>
        </p:txBody>
      </p:sp>
      <p:sp>
        <p:nvSpPr>
          <p:cNvPr id="11" name="Text 9"/>
          <p:cNvSpPr txBox="1"/>
          <p:nvPr/>
        </p:nvSpPr>
        <p:spPr>
          <a:xfrm>
            <a:off x="6309360" y="1691640"/>
            <a:ext cx="5303520" cy="36576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Zone frontalière (0–20 km) par rapport à la moyenne nationale, pour 10 000 habitants (%)</a:t>
            </a:r>
            <a:endParaRPr lang="en-US" sz="1300" dirty="0"/>
          </a:p>
        </p:txBody>
      </p:sp>
      <p:graphicFrame>
        <p:nvGraphicFramePr>
          <p:cNvPr id="12" name="Chart 0" descr=""/>
          <p:cNvGraphicFramePr/>
          <p:nvPr/>
        </p:nvGraphicFramePr>
        <p:xfrm>
          <a:off x="6217920" y="2057400"/>
          <a:ext cx="5440680" cy="406908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419088"/>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Sources : calculs des auteurs ; Hillion et Monchâtre (2024), Insee Analyses n° 94 ; Douchet (2021), OFDT ; KPMG (2025) ; Insee BPE 2025 ; DGDDI, annuaire des buralistes 2018.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3 · POLITIQUES PUBLIQUES</a:t>
            </a:r>
            <a:endParaRPr lang="en-US" sz="1100" dirty="0"/>
          </a:p>
        </p:txBody>
      </p:sp>
      <p:sp>
        <p:nvSpPr>
          <p:cNvPr id="3" name="Text 1"/>
          <p:cNvSpPr txBox="1"/>
          <p:nvPr/>
        </p:nvSpPr>
        <p:spPr>
          <a:xfrm>
            <a:off x="548640" y="621792"/>
            <a:ext cx="11064240" cy="868680"/>
          </a:xfrm>
          <a:prstGeom prst="rect">
            <a:avLst/>
          </a:prstGeom>
          <a:noFill/>
          <a:ln/>
        </p:spPr>
        <p:txBody>
          <a:bodyPr wrap="square" lIns="0" tIns="0" rIns="0" bIns="0" rtlCol="0" anchor="t"/>
          <a:lstStyle/>
          <a:p>
            <a:pPr indent="0" marL="0">
              <a:buNone/>
            </a:pPr>
            <a:r>
              <a:rPr lang="en-US" sz="2800" b="1" dirty="0">
                <a:solidFill>
                  <a:srgbClr val="1B2A4A"/>
                </a:solidFill>
                <a:latin typeface="Cambria" pitchFamily="34" charset="0"/>
                <a:ea typeface="Cambria" pitchFamily="34" charset="-122"/>
                <a:cs typeface="Cambria" pitchFamily="34" charset="-120"/>
              </a:rPr>
              <a:t>Des politiques qui ignorent la frontière : ce que peuvent faire la DGE et la DG GROW</a:t>
            </a:r>
            <a:endParaRPr lang="en-US" sz="2800" dirty="0"/>
          </a:p>
        </p:txBody>
      </p:sp>
      <p:sp>
        <p:nvSpPr>
          <p:cNvPr id="4" name="Shape 2"/>
          <p:cNvSpPr/>
          <p:nvPr/>
        </p:nvSpPr>
        <p:spPr>
          <a:xfrm>
            <a:off x="548640" y="1691640"/>
            <a:ext cx="3383280" cy="4480560"/>
          </a:xfrm>
          <a:prstGeom prst="rect">
            <a:avLst/>
          </a:prstGeom>
          <a:solidFill>
            <a:srgbClr val="1B2A4A"/>
          </a:solidFill>
          <a:ln w="12700">
            <a:solidFill>
              <a:srgbClr val="1B2A4A"/>
            </a:solidFill>
            <a:prstDash val="solid"/>
          </a:ln>
        </p:spPr>
      </p:sp>
      <p:sp>
        <p:nvSpPr>
          <p:cNvPr id="5" name="Text 3"/>
          <p:cNvSpPr txBox="1"/>
          <p:nvPr/>
        </p:nvSpPr>
        <p:spPr>
          <a:xfrm>
            <a:off x="777240" y="1828800"/>
            <a:ext cx="292608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Lacunes</a:t>
            </a:r>
            <a:endParaRPr lang="en-US" sz="2000" dirty="0"/>
          </a:p>
        </p:txBody>
      </p:sp>
      <p:sp>
        <p:nvSpPr>
          <p:cNvPr id="6" name="Text 4"/>
          <p:cNvSpPr txBox="1"/>
          <p:nvPr/>
        </p:nvSpPr>
        <p:spPr>
          <a:xfrm>
            <a:off x="777240" y="2331720"/>
            <a:ext cx="2971800" cy="36576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9 dispositifs sur 29 seulement ciblent les zones frontalières ; ACV, PVD et le plan commerce 2025 ignorent l'exposition frontalière</a:t>
            </a:r>
            <a:endParaRPr lang="en-US" sz="1300" dirty="0"/>
          </a:p>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Aucune mesure officielle des achats transfrontaliers</a:t>
            </a:r>
            <a:endParaRPr lang="en-US" sz="1300" dirty="0"/>
          </a:p>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Bonus forfaitaire de 2 500 € pour les buralistes frontaliers, alors que 10 à 60 % des ventes sont en jeu</a:t>
            </a:r>
            <a:endParaRPr lang="en-US" sz="1300" dirty="0"/>
          </a:p>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Interreg Grande Région (frontières DE, LU) sans priorité PME</a:t>
            </a:r>
            <a:endParaRPr lang="en-US" sz="1300" dirty="0"/>
          </a:p>
        </p:txBody>
      </p:sp>
      <p:sp>
        <p:nvSpPr>
          <p:cNvPr id="7" name="Shape 5"/>
          <p:cNvSpPr/>
          <p:nvPr/>
        </p:nvSpPr>
        <p:spPr>
          <a:xfrm>
            <a:off x="4160520" y="1691640"/>
            <a:ext cx="3657600" cy="4480560"/>
          </a:xfrm>
          <a:prstGeom prst="rect">
            <a:avLst/>
          </a:prstGeom>
          <a:solidFill>
            <a:srgbClr val="EEF2F7"/>
          </a:solidFill>
          <a:ln w="12700">
            <a:solidFill>
              <a:srgbClr val="EEF2F7"/>
            </a:solidFill>
            <a:prstDash val="solid"/>
          </a:ln>
        </p:spPr>
      </p:sp>
      <p:sp>
        <p:nvSpPr>
          <p:cNvPr id="8" name="Text 6"/>
          <p:cNvSpPr txBox="1"/>
          <p:nvPr/>
        </p:nvSpPr>
        <p:spPr>
          <a:xfrm>
            <a:off x="4389120" y="1828800"/>
            <a:ext cx="32004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France (DGE)</a:t>
            </a:r>
            <a:endParaRPr lang="en-US" sz="2000" dirty="0"/>
          </a:p>
        </p:txBody>
      </p:sp>
      <p:sp>
        <p:nvSpPr>
          <p:cNvPr id="9" name="Shape 7"/>
          <p:cNvSpPr/>
          <p:nvPr/>
        </p:nvSpPr>
        <p:spPr>
          <a:xfrm>
            <a:off x="4389120" y="2395728"/>
            <a:ext cx="384048" cy="384048"/>
          </a:xfrm>
          <a:prstGeom prst="ellipse">
            <a:avLst/>
          </a:prstGeom>
          <a:solidFill>
            <a:srgbClr val="2E6DB4"/>
          </a:solidFill>
          <a:ln w="12700">
            <a:solidFill>
              <a:srgbClr val="2E6DB4"/>
            </a:solidFill>
            <a:prstDash val="solid"/>
          </a:ln>
        </p:spPr>
      </p:sp>
      <p:sp>
        <p:nvSpPr>
          <p:cNvPr id="10" name="Text 8"/>
          <p:cNvSpPr txBox="1"/>
          <p:nvPr/>
        </p:nvSpPr>
        <p:spPr>
          <a:xfrm>
            <a:off x="4389120" y="23957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4910328" y="2340864"/>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Indice d'exposition frontalière</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pour cibler les suites d'ACV / PVD et le plan commerce 2026</a:t>
            </a:r>
            <a:endParaRPr lang="en-US" sz="1200" dirty="0"/>
          </a:p>
        </p:txBody>
      </p:sp>
      <p:sp>
        <p:nvSpPr>
          <p:cNvPr id="12" name="Shape 10"/>
          <p:cNvSpPr/>
          <p:nvPr/>
        </p:nvSpPr>
        <p:spPr>
          <a:xfrm>
            <a:off x="4389120" y="3328416"/>
            <a:ext cx="384048" cy="384048"/>
          </a:xfrm>
          <a:prstGeom prst="ellipse">
            <a:avLst/>
          </a:prstGeom>
          <a:solidFill>
            <a:srgbClr val="2E6DB4"/>
          </a:solidFill>
          <a:ln w="12700">
            <a:solidFill>
              <a:srgbClr val="2E6DB4"/>
            </a:solidFill>
            <a:prstDash val="solid"/>
          </a:ln>
        </p:spPr>
      </p:sp>
      <p:sp>
        <p:nvSpPr>
          <p:cNvPr id="13" name="Text 11"/>
          <p:cNvSpPr txBox="1"/>
          <p:nvPr/>
        </p:nvSpPr>
        <p:spPr>
          <a:xfrm>
            <a:off x="4389120" y="3328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910328" y="3273552"/>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Mesure officielle</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enquête trimestrielle ; ventes tabac et carburant ouvertes par département</a:t>
            </a:r>
            <a:endParaRPr lang="en-US" sz="1200" dirty="0"/>
          </a:p>
        </p:txBody>
      </p:sp>
      <p:sp>
        <p:nvSpPr>
          <p:cNvPr id="15" name="Shape 13"/>
          <p:cNvSpPr/>
          <p:nvPr/>
        </p:nvSpPr>
        <p:spPr>
          <a:xfrm>
            <a:off x="4389120" y="4261104"/>
            <a:ext cx="384048" cy="384048"/>
          </a:xfrm>
          <a:prstGeom prst="ellipse">
            <a:avLst/>
          </a:prstGeom>
          <a:solidFill>
            <a:srgbClr val="2E6DB4"/>
          </a:solidFill>
          <a:ln w="12700">
            <a:solidFill>
              <a:srgbClr val="2E6DB4"/>
            </a:solidFill>
            <a:prstDash val="solid"/>
          </a:ln>
        </p:spPr>
      </p:sp>
      <p:sp>
        <p:nvSpPr>
          <p:cNvPr id="16" name="Text 14"/>
          <p:cNvSpPr txBox="1"/>
          <p:nvPr/>
        </p:nvSpPr>
        <p:spPr>
          <a:xfrm>
            <a:off x="4389120" y="4261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4910328" y="4206240"/>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Soutien aux buralistes</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proportionnel à l'exposition, sans baisser la fiscalité du tabac</a:t>
            </a:r>
            <a:endParaRPr lang="en-US" sz="1200" dirty="0"/>
          </a:p>
        </p:txBody>
      </p:sp>
      <p:sp>
        <p:nvSpPr>
          <p:cNvPr id="18" name="Shape 16"/>
          <p:cNvSpPr/>
          <p:nvPr/>
        </p:nvSpPr>
        <p:spPr>
          <a:xfrm>
            <a:off x="4389120" y="5193792"/>
            <a:ext cx="384048" cy="384048"/>
          </a:xfrm>
          <a:prstGeom prst="ellipse">
            <a:avLst/>
          </a:prstGeom>
          <a:solidFill>
            <a:srgbClr val="2E6DB4"/>
          </a:solidFill>
          <a:ln w="12700">
            <a:solidFill>
              <a:srgbClr val="2E6DB4"/>
            </a:solidFill>
            <a:prstDash val="solid"/>
          </a:ln>
        </p:spPr>
      </p:sp>
      <p:sp>
        <p:nvSpPr>
          <p:cNvPr id="19" name="Text 17"/>
          <p:cNvSpPr txBox="1"/>
          <p:nvPr/>
        </p:nvSpPr>
        <p:spPr>
          <a:xfrm>
            <a:off x="4389120" y="5193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4910328" y="5138928"/>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Urbanisme commercial</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étude d'impact transfrontalière à moins de 30 km d'une frontière</a:t>
            </a:r>
            <a:endParaRPr lang="en-US" sz="1200" dirty="0"/>
          </a:p>
        </p:txBody>
      </p:sp>
      <p:sp>
        <p:nvSpPr>
          <p:cNvPr id="21" name="Shape 19"/>
          <p:cNvSpPr/>
          <p:nvPr/>
        </p:nvSpPr>
        <p:spPr>
          <a:xfrm>
            <a:off x="8001000" y="1691640"/>
            <a:ext cx="3657600" cy="4480560"/>
          </a:xfrm>
          <a:prstGeom prst="rect">
            <a:avLst/>
          </a:prstGeom>
          <a:solidFill>
            <a:srgbClr val="EEF2F7"/>
          </a:solidFill>
          <a:ln w="12700">
            <a:solidFill>
              <a:srgbClr val="EEF2F7"/>
            </a:solidFill>
            <a:prstDash val="solid"/>
          </a:ln>
        </p:spPr>
      </p:sp>
      <p:sp>
        <p:nvSpPr>
          <p:cNvPr id="22" name="Text 20"/>
          <p:cNvSpPr txBox="1"/>
          <p:nvPr/>
        </p:nvSpPr>
        <p:spPr>
          <a:xfrm>
            <a:off x="8229600" y="1828800"/>
            <a:ext cx="32004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UE (DG GROW)</a:t>
            </a:r>
            <a:endParaRPr lang="en-US" sz="2000" dirty="0"/>
          </a:p>
        </p:txBody>
      </p:sp>
      <p:sp>
        <p:nvSpPr>
          <p:cNvPr id="23" name="Shape 21"/>
          <p:cNvSpPr/>
          <p:nvPr/>
        </p:nvSpPr>
        <p:spPr>
          <a:xfrm>
            <a:off x="8229600" y="2395728"/>
            <a:ext cx="384048" cy="384048"/>
          </a:xfrm>
          <a:prstGeom prst="ellipse">
            <a:avLst/>
          </a:prstGeom>
          <a:solidFill>
            <a:srgbClr val="2E6DB4"/>
          </a:solidFill>
          <a:ln w="12700">
            <a:solidFill>
              <a:srgbClr val="2E6DB4"/>
            </a:solidFill>
            <a:prstDash val="solid"/>
          </a:ln>
        </p:spPr>
      </p:sp>
      <p:sp>
        <p:nvSpPr>
          <p:cNvPr id="24" name="Text 22"/>
          <p:cNvSpPr txBox="1"/>
          <p:nvPr/>
        </p:nvSpPr>
        <p:spPr>
          <a:xfrm>
            <a:off x="8229600" y="23957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8750808" y="2340864"/>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Convergence des accises</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directive tabac ambitieuse, transition courte d'ici 2028</a:t>
            </a:r>
            <a:endParaRPr lang="en-US" sz="1200" dirty="0"/>
          </a:p>
        </p:txBody>
      </p:sp>
      <p:sp>
        <p:nvSpPr>
          <p:cNvPr id="26" name="Shape 24"/>
          <p:cNvSpPr/>
          <p:nvPr/>
        </p:nvSpPr>
        <p:spPr>
          <a:xfrm>
            <a:off x="8229600" y="3328416"/>
            <a:ext cx="384048" cy="384048"/>
          </a:xfrm>
          <a:prstGeom prst="ellipse">
            <a:avLst/>
          </a:prstGeom>
          <a:solidFill>
            <a:srgbClr val="2E6DB4"/>
          </a:solidFill>
          <a:ln w="12700">
            <a:solidFill>
              <a:srgbClr val="2E6DB4"/>
            </a:solidFill>
            <a:prstDash val="solid"/>
          </a:ln>
        </p:spPr>
      </p:sp>
      <p:sp>
        <p:nvSpPr>
          <p:cNvPr id="27" name="Text 25"/>
          <p:cNvSpPr txBox="1"/>
          <p:nvPr/>
        </p:nvSpPr>
        <p:spPr>
          <a:xfrm>
            <a:off x="8229600" y="3328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txBox="1"/>
          <p:nvPr/>
        </p:nvSpPr>
        <p:spPr>
          <a:xfrm>
            <a:off x="8750808" y="3273552"/>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Interreg 2028–2034</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un volet commerce de proximité et centres-villes, à commencer par la Grande Région</a:t>
            </a:r>
            <a:endParaRPr lang="en-US" sz="1200" dirty="0"/>
          </a:p>
        </p:txBody>
      </p:sp>
      <p:sp>
        <p:nvSpPr>
          <p:cNvPr id="29" name="Shape 27"/>
          <p:cNvSpPr/>
          <p:nvPr/>
        </p:nvSpPr>
        <p:spPr>
          <a:xfrm>
            <a:off x="8229600" y="4261104"/>
            <a:ext cx="384048" cy="384048"/>
          </a:xfrm>
          <a:prstGeom prst="ellipse">
            <a:avLst/>
          </a:prstGeom>
          <a:solidFill>
            <a:srgbClr val="2E6DB4"/>
          </a:solidFill>
          <a:ln w="12700">
            <a:solidFill>
              <a:srgbClr val="2E6DB4"/>
            </a:solidFill>
            <a:prstDash val="solid"/>
          </a:ln>
        </p:spPr>
      </p:sp>
      <p:sp>
        <p:nvSpPr>
          <p:cNvPr id="30" name="Text 28"/>
          <p:cNvSpPr txBox="1"/>
          <p:nvPr/>
        </p:nvSpPr>
        <p:spPr>
          <a:xfrm>
            <a:off x="8229600" y="4261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txBox="1"/>
          <p:nvPr/>
        </p:nvSpPr>
        <p:spPr>
          <a:xfrm>
            <a:off x="8750808" y="4206240"/>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BRIDGEforEU</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recenser les obstacles des petits commerçants transfrontaliers (détaxe, règles)</a:t>
            </a:r>
            <a:endParaRPr lang="en-US" sz="1200" dirty="0"/>
          </a:p>
        </p:txBody>
      </p:sp>
      <p:sp>
        <p:nvSpPr>
          <p:cNvPr id="32" name="Shape 30"/>
          <p:cNvSpPr/>
          <p:nvPr/>
        </p:nvSpPr>
        <p:spPr>
          <a:xfrm>
            <a:off x="8229600" y="5193792"/>
            <a:ext cx="384048" cy="384048"/>
          </a:xfrm>
          <a:prstGeom prst="ellipse">
            <a:avLst/>
          </a:prstGeom>
          <a:solidFill>
            <a:srgbClr val="2E6DB4"/>
          </a:solidFill>
          <a:ln w="12700">
            <a:solidFill>
              <a:srgbClr val="2E6DB4"/>
            </a:solidFill>
            <a:prstDash val="solid"/>
          </a:ln>
        </p:spPr>
      </p:sp>
      <p:sp>
        <p:nvSpPr>
          <p:cNvPr id="33" name="Text 31"/>
          <p:cNvSpPr txBox="1"/>
          <p:nvPr/>
        </p:nvSpPr>
        <p:spPr>
          <a:xfrm>
            <a:off x="8229600" y="5193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4" name="Text 32"/>
          <p:cNvSpPr txBox="1"/>
          <p:nvPr/>
        </p:nvSpPr>
        <p:spPr>
          <a:xfrm>
            <a:off x="8750808" y="5138928"/>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Transition pathway</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ajouter une dimension frontalière et des statistiques harmonisées</a:t>
            </a:r>
            <a:endParaRPr lang="en-US" sz="1200" dirty="0"/>
          </a:p>
        </p:txBody>
      </p:sp>
      <p:sp>
        <p:nvSpPr>
          <p:cNvPr id="35" name="Text 33"/>
          <p:cNvSpPr txBox="1"/>
          <p:nvPr/>
        </p:nvSpPr>
        <p:spPr>
          <a:xfrm>
            <a:off x="548640" y="6419088"/>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Sources : revue par les auteurs de 29 dispositifs européens, nationaux, bilatéraux et locaux (sept. 2026) ; recommandations du projet de chapitre sur les PME du commerce dans les zones frontalières.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PME du commerce dans les zones frontalières</dc:title>
  <dc:subject>PptxGenJS Presentation</dc:subject>
  <dc:creator>PptxGenJS</dc:creator>
  <cp:lastModifiedBy>PptxGenJS</cp:lastModifiedBy>
  <cp:revision>1</cp:revision>
  <dcterms:created xsi:type="dcterms:W3CDTF">2026-09-28T10:16:29Z</dcterms:created>
  <dcterms:modified xsi:type="dcterms:W3CDTF">2026-09-28T10:16:29Z</dcterms:modified>
</cp:coreProperties>
</file>