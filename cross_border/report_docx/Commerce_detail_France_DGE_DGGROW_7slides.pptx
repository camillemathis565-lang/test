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Micro (0–9)</c:v>
                </c:pt>
              </c:strCache>
            </c:strRef>
          </c:tx>
          <c:spPr>
            <a:solidFill>
              <a:srgbClr val="D9822B"/>
            </a:solidFill>
            <a:ln w="25400" cap="flat">
              <a:solidFill>
                <a:srgbClr val="D982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Sheet1!$B$2:$B$18</c:f>
              <c:numCache>
                <c:formatCode>General</c:formatCode>
                <c:ptCount val="17"/>
                <c:pt idx="0">
                  <c:v>100</c:v>
                </c:pt>
                <c:pt idx="1">
                  <c:v>93.1</c:v>
                </c:pt>
                <c:pt idx="2">
                  <c:v>99.1</c:v>
                </c:pt>
                <c:pt idx="3">
                  <c:v>101.3</c:v>
                </c:pt>
                <c:pt idx="4">
                  <c:v>96.8</c:v>
                </c:pt>
                <c:pt idx="5">
                  <c:v>92.7</c:v>
                </c:pt>
                <c:pt idx="6">
                  <c:v>87.7</c:v>
                </c:pt>
                <c:pt idx="7">
                  <c:v>87</c:v>
                </c:pt>
                <c:pt idx="8">
                  <c:v>89</c:v>
                </c:pt>
                <c:pt idx="9">
                  <c:v>83.5</c:v>
                </c:pt>
                <c:pt idx="10">
                  <c:v>81.4</c:v>
                </c:pt>
                <c:pt idx="11">
                  <c:v>76.1</c:v>
                </c:pt>
                <c:pt idx="12">
                  <c:v>76.1</c:v>
                </c:pt>
                <c:pt idx="13">
                  <c:v>85.5</c:v>
                </c:pt>
                <c:pt idx="14">
                  <c:v>80.7</c:v>
                </c:pt>
                <c:pt idx="15">
                  <c:v>77.1</c:v>
                </c:pt>
                <c:pt idx="16">
                  <c:v>75.6</c:v>
                </c:pt>
              </c:numCache>
            </c:numRef>
          </c:val>
          <c:smooth val="0"/>
        </c:ser>
        <c:ser>
          <c:idx val="1"/>
          <c:order val="1"/>
          <c:tx>
            <c:strRef>
              <c:f>Sheet1!$C$1</c:f>
              <c:strCache>
                <c:ptCount val="1"/>
                <c:pt idx="0">
                  <c:v>Petites (10–49)</c:v>
                </c:pt>
              </c:strCache>
            </c:strRef>
          </c:tx>
          <c:spPr>
            <a:solidFill>
              <a:srgbClr val="8DB9E2"/>
            </a:solidFill>
            <a:ln w="25400" cap="flat">
              <a:solidFill>
                <a:srgbClr val="8DB9E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DB9E2"/>
              </a:solidFill>
              <a:ln w="9525" cap="flat">
                <a:solidFill>
                  <a:srgbClr val="8DB9E2"/>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Sheet1!$C$2:$C$18</c:f>
              <c:numCache>
                <c:formatCode>General</c:formatCode>
                <c:ptCount val="17"/>
                <c:pt idx="0">
                  <c:v>100</c:v>
                </c:pt>
                <c:pt idx="1">
                  <c:v>90.4</c:v>
                </c:pt>
                <c:pt idx="2">
                  <c:v>96.6</c:v>
                </c:pt>
                <c:pt idx="3">
                  <c:v>92.7</c:v>
                </c:pt>
                <c:pt idx="4">
                  <c:v>92.3</c:v>
                </c:pt>
                <c:pt idx="5">
                  <c:v>92.7</c:v>
                </c:pt>
                <c:pt idx="6">
                  <c:v>93.8</c:v>
                </c:pt>
                <c:pt idx="7">
                  <c:v>94.9</c:v>
                </c:pt>
                <c:pt idx="8">
                  <c:v>98.7</c:v>
                </c:pt>
                <c:pt idx="9">
                  <c:v>94.5</c:v>
                </c:pt>
                <c:pt idx="10">
                  <c:v>94.6</c:v>
                </c:pt>
                <c:pt idx="11">
                  <c:v>98.9</c:v>
                </c:pt>
                <c:pt idx="12">
                  <c:v>103.4</c:v>
                </c:pt>
                <c:pt idx="13">
                  <c:v>125.9</c:v>
                </c:pt>
                <c:pt idx="14">
                  <c:v>127.4</c:v>
                </c:pt>
                <c:pt idx="15">
                  <c:v>116.4</c:v>
                </c:pt>
                <c:pt idx="16">
                  <c:v>116.8</c:v>
                </c:pt>
              </c:numCache>
            </c:numRef>
          </c:val>
          <c:smooth val="0"/>
        </c:ser>
        <c:ser>
          <c:idx val="2"/>
          <c:order val="2"/>
          <c:tx>
            <c:strRef>
              <c:f>Sheet1!$D$1</c:f>
              <c:strCache>
                <c:ptCount val="1"/>
                <c:pt idx="0">
                  <c:v>Moyennes (50–249)</c:v>
                </c:pt>
              </c:strCache>
            </c:strRef>
          </c:tx>
          <c:spPr>
            <a:solidFill>
              <a:srgbClr val="0070C0"/>
            </a:solidFill>
            <a:ln w="25400" cap="flat">
              <a:solidFill>
                <a:srgbClr val="0070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70C0"/>
              </a:solidFill>
              <a:ln w="9525" cap="flat">
                <a:solidFill>
                  <a:srgbClr val="0070C0"/>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Sheet1!$D$2:$D$18</c:f>
              <c:numCache>
                <c:formatCode>General</c:formatCode>
                <c:ptCount val="17"/>
                <c:pt idx="0">
                  <c:v>100</c:v>
                </c:pt>
                <c:pt idx="1">
                  <c:v>101.5</c:v>
                </c:pt>
                <c:pt idx="2">
                  <c:v>106.2</c:v>
                </c:pt>
                <c:pt idx="3">
                  <c:v>110.6</c:v>
                </c:pt>
                <c:pt idx="4">
                  <c:v>109.6</c:v>
                </c:pt>
                <c:pt idx="5">
                  <c:v>110.3</c:v>
                </c:pt>
                <c:pt idx="6">
                  <c:v>112.9</c:v>
                </c:pt>
                <c:pt idx="7">
                  <c:v>117</c:v>
                </c:pt>
                <c:pt idx="8">
                  <c:v>114.3</c:v>
                </c:pt>
                <c:pt idx="9">
                  <c:v>125.4</c:v>
                </c:pt>
                <c:pt idx="10">
                  <c:v>125</c:v>
                </c:pt>
                <c:pt idx="11">
                  <c:v>126.7</c:v>
                </c:pt>
                <c:pt idx="12">
                  <c:v>130.7</c:v>
                </c:pt>
                <c:pt idx="13">
                  <c:v>141.8</c:v>
                </c:pt>
                <c:pt idx="14">
                  <c:v>140.6</c:v>
                </c:pt>
                <c:pt idx="15">
                  <c:v>130.3</c:v>
                </c:pt>
                <c:pt idx="16">
                  <c:v>129.2</c:v>
                </c:pt>
              </c:numCache>
            </c:numRef>
          </c:val>
          <c:smooth val="0"/>
        </c:ser>
        <c:ser>
          <c:idx val="3"/>
          <c:order val="3"/>
          <c:tx>
            <c:strRef>
              <c:f>Sheet1!$E$1</c:f>
              <c:strCache>
                <c:ptCount val="1"/>
                <c:pt idx="0">
                  <c:v>Grandes (250+)</c:v>
                </c:pt>
              </c:strCache>
            </c:strRef>
          </c:tx>
          <c:spPr>
            <a:solidFill>
              <a:srgbClr val="003087"/>
            </a:solidFill>
            <a:ln w="25400" cap="flat">
              <a:solidFill>
                <a:srgbClr val="00308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3087"/>
              </a:solidFill>
              <a:ln w="9525" cap="flat">
                <a:solidFill>
                  <a:srgbClr val="003087"/>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Sheet1!$E$2:$E$18</c:f>
              <c:numCache>
                <c:formatCode>General</c:formatCode>
                <c:ptCount val="17"/>
                <c:pt idx="0">
                  <c:v>100</c:v>
                </c:pt>
                <c:pt idx="1">
                  <c:v>106.4</c:v>
                </c:pt>
                <c:pt idx="2">
                  <c:v>105.9</c:v>
                </c:pt>
                <c:pt idx="3">
                  <c:v>105.2</c:v>
                </c:pt>
                <c:pt idx="4">
                  <c:v>105.4</c:v>
                </c:pt>
                <c:pt idx="5">
                  <c:v>107.8</c:v>
                </c:pt>
                <c:pt idx="6">
                  <c:v>109.7</c:v>
                </c:pt>
                <c:pt idx="7">
                  <c:v>105.7</c:v>
                </c:pt>
                <c:pt idx="8">
                  <c:v>110.4</c:v>
                </c:pt>
                <c:pt idx="9">
                  <c:v>142.7</c:v>
                </c:pt>
                <c:pt idx="10">
                  <c:v>136.3</c:v>
                </c:pt>
                <c:pt idx="11">
                  <c:v>147.6</c:v>
                </c:pt>
                <c:pt idx="12">
                  <c:v>140.8</c:v>
                </c:pt>
                <c:pt idx="13">
                  <c:v>153.6</c:v>
                </c:pt>
                <c:pt idx="14">
                  <c:v>150.4</c:v>
                </c:pt>
                <c:pt idx="15">
                  <c:v>135.4</c:v>
                </c:pt>
                <c:pt idx="16">
                  <c:v>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4BCC6"/>
            </a:solidFill>
            <a:prstDash val="solid"/>
            <a:round/>
          </a:ln>
        </c:spPr>
        <c:txPr>
          <a:bodyPr/>
          <a:lstStyle/>
          <a:p>
            <a:pPr>
              <a:defRPr sz="900" b="0" i="0" u="none" strike="noStrike">
                <a:solidFill>
                  <a:srgbClr val="727272"/>
                </a:solidFill>
                <a:latin typeface="Aptos"/>
              </a:defRPr>
            </a:pPr>
            <a:endParaRPr lang="en-US"/>
          </a:p>
        </c:txPr>
        <c:crossAx val="2094734552"/>
        <c:crosses val="autoZero"/>
        <c:auto val="1"/>
        <c:lblAlgn val="ctr"/>
        <c:noMultiLvlLbl val="1"/>
      </c:catAx>
      <c:valAx>
        <c:axId val="2094734552"/>
        <c:scaling>
          <c:orientation val="minMax"/>
          <c:max val="160"/>
          <c:min val="6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27272"/>
                </a:solidFill>
                <a:latin typeface="Aptos"/>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France</c:v>
                </c:pt>
              </c:strCache>
            </c:strRef>
          </c:tx>
          <c:spPr>
            <a:solidFill>
              <a:srgbClr val="1D774A"/>
            </a:solidFill>
            <a:ln w="25400" cap="flat">
              <a:solidFill>
                <a:srgbClr val="1D77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774A"/>
              </a:solidFill>
              <a:ln w="9525" cap="flat">
                <a:solidFill>
                  <a:srgbClr val="1D774A"/>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Sheet1!$B$2:$B$18</c:f>
              <c:numCache>
                <c:formatCode>General</c:formatCode>
                <c:ptCount val="17"/>
                <c:pt idx="0">
                  <c:v>100</c:v>
                </c:pt>
                <c:pt idx="1">
                  <c:v>107.7</c:v>
                </c:pt>
                <c:pt idx="2">
                  <c:v>112.4</c:v>
                </c:pt>
                <c:pt idx="3">
                  <c:v>104.3</c:v>
                </c:pt>
                <c:pt idx="4">
                  <c:v>107.1</c:v>
                </c:pt>
                <c:pt idx="5">
                  <c:v>106.9</c:v>
                </c:pt>
                <c:pt idx="6">
                  <c:v>102.1</c:v>
                </c:pt>
                <c:pt idx="7">
                  <c:v>99.6</c:v>
                </c:pt>
                <c:pt idx="8">
                  <c:v>93.9</c:v>
                </c:pt>
                <c:pt idx="9">
                  <c:v>90.6</c:v>
                </c:pt>
                <c:pt idx="10">
                  <c:v>83.4</c:v>
                </c:pt>
                <c:pt idx="11">
                  <c:v>75.4</c:v>
                </c:pt>
                <c:pt idx="12">
                  <c:v>65.1</c:v>
                </c:pt>
                <c:pt idx="13">
                  <c:v>60.4</c:v>
                </c:pt>
                <c:pt idx="14">
                  <c:v>52.8</c:v>
                </c:pt>
                <c:pt idx="15">
                  <c:v>45.8</c:v>
                </c:pt>
                <c:pt idx="16">
                  <c:v>44</c:v>
                </c:pt>
              </c:numCache>
            </c:numRef>
          </c:val>
          <c:smooth val="0"/>
        </c:ser>
        <c:ser>
          <c:idx val="1"/>
          <c:order val="1"/>
          <c:tx>
            <c:strRef>
              <c:f>Sheet1!$C$1</c:f>
              <c:strCache>
                <c:ptCount val="1"/>
                <c:pt idx="0">
                  <c:v>UE-27</c:v>
                </c:pt>
              </c:strCache>
            </c:strRef>
          </c:tx>
          <c:spPr>
            <a:solidFill>
              <a:srgbClr val="B4BCC6"/>
            </a:solidFill>
            <a:ln w="25400" cap="flat">
              <a:solidFill>
                <a:srgbClr val="B4BCC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4BCC6"/>
              </a:solidFill>
              <a:ln w="9525" cap="flat">
                <a:solidFill>
                  <a:srgbClr val="B4BCC6"/>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Sheet1!$C$2:$C$18</c:f>
              <c:numCache>
                <c:formatCode>General</c:formatCode>
                <c:ptCount val="17"/>
                <c:pt idx="0">
                  <c:v>100</c:v>
                </c:pt>
                <c:pt idx="1">
                  <c:v>101</c:v>
                </c:pt>
                <c:pt idx="2">
                  <c:v>104.4</c:v>
                </c:pt>
                <c:pt idx="3">
                  <c:v>99.7</c:v>
                </c:pt>
                <c:pt idx="4">
                  <c:v>97</c:v>
                </c:pt>
                <c:pt idx="5">
                  <c:v>97.8</c:v>
                </c:pt>
                <c:pt idx="6">
                  <c:v>92.5</c:v>
                </c:pt>
                <c:pt idx="7">
                  <c:v>90.6</c:v>
                </c:pt>
                <c:pt idx="8">
                  <c:v>88.1</c:v>
                </c:pt>
                <c:pt idx="9">
                  <c:v>90.1</c:v>
                </c:pt>
                <c:pt idx="10">
                  <c:v>86.1</c:v>
                </c:pt>
                <c:pt idx="11">
                  <c:v>79.3</c:v>
                </c:pt>
                <c:pt idx="12">
                  <c:v>69.7</c:v>
                </c:pt>
                <c:pt idx="13">
                  <c:v>71.2</c:v>
                </c:pt>
                <c:pt idx="14">
                  <c:v>67.2</c:v>
                </c:pt>
                <c:pt idx="15">
                  <c:v>61.5</c:v>
                </c:pt>
                <c:pt idx="16">
                  <c:v>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4BCC6"/>
            </a:solidFill>
            <a:prstDash val="solid"/>
            <a:round/>
          </a:ln>
        </c:spPr>
        <c:txPr>
          <a:bodyPr/>
          <a:lstStyle/>
          <a:p>
            <a:pPr>
              <a:defRPr sz="900" b="0" i="0" u="none" strike="noStrike">
                <a:solidFill>
                  <a:srgbClr val="727272"/>
                </a:solidFill>
                <a:latin typeface="Aptos"/>
              </a:defRPr>
            </a:pPr>
            <a:endParaRPr lang="en-US"/>
          </a:p>
        </c:txPr>
        <c:crossAx val="2094734552"/>
        <c:crosses val="autoZero"/>
        <c:auto val="1"/>
        <c:lblAlgn val="ctr"/>
        <c:noMultiLvlLbl val="1"/>
      </c:catAx>
      <c:valAx>
        <c:axId val="2094734552"/>
        <c:scaling>
          <c:orientation val="minMax"/>
          <c:max val="120"/>
          <c:min val="4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27272"/>
                </a:solidFill>
                <a:latin typeface="Aptos"/>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France</c:v>
                </c:pt>
              </c:strCache>
            </c:strRef>
          </c:tx>
          <c:spPr>
            <a:solidFill>
              <a:srgbClr val="0070C0"/>
            </a:solidFill>
            <a:ln w="25400" cap="flat">
              <a:solidFill>
                <a:srgbClr val="0070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70C0"/>
              </a:solidFill>
              <a:ln w="9525" cap="flat">
                <a:solidFill>
                  <a:srgbClr val="0070C0"/>
                </a:solidFill>
                <a:prstDash val="solid"/>
                <a:round/>
              </a:ln>
              <a:effectLst/>
            </c:spPr>
          </c:marker>
          <c:cat>
            <c:multiLvlStrRef>
              <c:f>Sheet1!$A$2:$A$14</c:f>
              <c:multiLvlStrCache>
                <c:ptCount val="13"/>
                <c:lvl>
                  <c:pt idx="0">
                    <c:v>2009</c:v>
                  </c:pt>
                  <c:pt idx="1">
                    <c:v>2011</c:v>
                  </c:pt>
                  <c:pt idx="2">
                    <c:v>2012</c:v>
                  </c:pt>
                  <c:pt idx="3">
                    <c:v>2013</c:v>
                  </c:pt>
                  <c:pt idx="4">
                    <c:v>2014</c:v>
                  </c:pt>
                  <c:pt idx="5">
                    <c:v>2015</c:v>
                  </c:pt>
                  <c:pt idx="6">
                    <c:v>2016</c:v>
                  </c:pt>
                  <c:pt idx="7">
                    <c:v>2017</c:v>
                  </c:pt>
                  <c:pt idx="8">
                    <c:v>2018</c:v>
                  </c:pt>
                  <c:pt idx="9">
                    <c:v>2019</c:v>
                  </c:pt>
                  <c:pt idx="10">
                    <c:v>2020</c:v>
                  </c:pt>
                  <c:pt idx="11">
                    <c:v>2021</c:v>
                  </c:pt>
                  <c:pt idx="12">
                    <c:v>2025</c:v>
                  </c:pt>
                </c:lvl>
              </c:multiLvlStrCache>
            </c:multiLvlStrRef>
          </c:cat>
          <c:val>
            <c:numRef>
              <c:f>Sheet1!$B$2:$B$14</c:f>
              <c:numCache>
                <c:formatCode>General</c:formatCode>
                <c:ptCount val="13"/>
                <c:pt idx="0">
                  <c:v>16.7</c:v>
                </c:pt>
                <c:pt idx="1">
                  <c:v>19</c:v>
                </c:pt>
                <c:pt idx="2">
                  <c:v>20.7</c:v>
                </c:pt>
                <c:pt idx="3">
                  <c:v>30.1</c:v>
                </c:pt>
                <c:pt idx="4">
                  <c:v>30.9</c:v>
                </c:pt>
                <c:pt idx="5">
                  <c:v>33.5</c:v>
                </c:pt>
                <c:pt idx="6">
                  <c:v>34.1</c:v>
                </c:pt>
                <c:pt idx="7">
                  <c:v>33.9</c:v>
                </c:pt>
                <c:pt idx="8">
                  <c:v>38.1</c:v>
                </c:pt>
                <c:pt idx="9">
                  <c:v>49</c:v>
                </c:pt>
                <c:pt idx="10">
                  <c:v>43.7</c:v>
                </c:pt>
                <c:pt idx="11">
                  <c:v>44.7</c:v>
                </c:pt>
                <c:pt idx="12">
                  <c:v>41.5</c:v>
                </c:pt>
              </c:numCache>
            </c:numRef>
          </c:val>
          <c:smooth val="0"/>
        </c:ser>
        <c:ser>
          <c:idx val="1"/>
          <c:order val="1"/>
          <c:tx>
            <c:strRef>
              <c:f>Sheet1!$C$1</c:f>
              <c:strCache>
                <c:ptCount val="1"/>
                <c:pt idx="0">
                  <c:v>UE-27</c:v>
                </c:pt>
              </c:strCache>
            </c:strRef>
          </c:tx>
          <c:spPr>
            <a:solidFill>
              <a:srgbClr val="B4BCC6"/>
            </a:solidFill>
            <a:ln w="25400" cap="flat">
              <a:solidFill>
                <a:srgbClr val="B4BCC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4BCC6"/>
              </a:solidFill>
              <a:ln w="9525" cap="flat">
                <a:solidFill>
                  <a:srgbClr val="B4BCC6"/>
                </a:solidFill>
                <a:prstDash val="solid"/>
                <a:round/>
              </a:ln>
              <a:effectLst/>
            </c:spPr>
          </c:marker>
          <c:cat>
            <c:multiLvlStrRef>
              <c:f>Sheet1!$A$2:$A$14</c:f>
              <c:multiLvlStrCache>
                <c:ptCount val="13"/>
                <c:lvl>
                  <c:pt idx="0">
                    <c:v>2009</c:v>
                  </c:pt>
                  <c:pt idx="1">
                    <c:v>2011</c:v>
                  </c:pt>
                  <c:pt idx="2">
                    <c:v>2012</c:v>
                  </c:pt>
                  <c:pt idx="3">
                    <c:v>2013</c:v>
                  </c:pt>
                  <c:pt idx="4">
                    <c:v>2014</c:v>
                  </c:pt>
                  <c:pt idx="5">
                    <c:v>2015</c:v>
                  </c:pt>
                  <c:pt idx="6">
                    <c:v>2016</c:v>
                  </c:pt>
                  <c:pt idx="7">
                    <c:v>2017</c:v>
                  </c:pt>
                  <c:pt idx="8">
                    <c:v>2018</c:v>
                  </c:pt>
                  <c:pt idx="9">
                    <c:v>2019</c:v>
                  </c:pt>
                  <c:pt idx="10">
                    <c:v>2020</c:v>
                  </c:pt>
                  <c:pt idx="11">
                    <c:v>2021</c:v>
                  </c:pt>
                  <c:pt idx="12">
                    <c:v>2025</c:v>
                  </c:pt>
                </c:lvl>
              </c:multiLvlStrCache>
            </c:multiLvlStrRef>
          </c:cat>
          <c:val>
            <c:numRef>
              <c:f>Sheet1!$C$2:$C$14</c:f>
              <c:numCache>
                <c:formatCode>General</c:formatCode>
                <c:ptCount val="13"/>
                <c:pt idx="0">
                  <c:v>15.7</c:v>
                </c:pt>
                <c:pt idx="1">
                  <c:v>19.9</c:v>
                </c:pt>
                <c:pt idx="2">
                  <c:v>17.8</c:v>
                </c:pt>
                <c:pt idx="3">
                  <c:v>24.7</c:v>
                </c:pt>
                <c:pt idx="4">
                  <c:v>23.1</c:v>
                </c:pt>
                <c:pt idx="5">
                  <c:v>25.5</c:v>
                </c:pt>
                <c:pt idx="6">
                  <c:v>26.6</c:v>
                </c:pt>
                <c:pt idx="7">
                  <c:v>28.8</c:v>
                </c:pt>
                <c:pt idx="8">
                  <c:v>28.4</c:v>
                </c:pt>
                <c:pt idx="9">
                  <c:v>31.6</c:v>
                </c:pt>
                <c:pt idx="10">
                  <c:v>35.6</c:v>
                </c:pt>
                <c:pt idx="11">
                  <c:v>38.6</c:v>
                </c:pt>
                <c:pt idx="12">
                  <c:v>41.6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4BCC6"/>
            </a:solidFill>
            <a:prstDash val="solid"/>
            <a:round/>
          </a:ln>
        </c:spPr>
        <c:txPr>
          <a:bodyPr/>
          <a:lstStyle/>
          <a:p>
            <a:pPr>
              <a:defRPr sz="900" b="0" i="0" u="none" strike="noStrike">
                <a:solidFill>
                  <a:srgbClr val="727272"/>
                </a:solidFill>
                <a:latin typeface="Aptos"/>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27272"/>
                </a:solidFill>
                <a:latin typeface="Aptos"/>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v>
                </c:pt>
              </c:strCache>
            </c:strRef>
          </c:tx>
          <c:spPr>
            <a:solidFill>
              <a:srgbClr val="003087"/>
            </a:solidFill>
            <a:effectLst/>
          </c:spPr>
          <c:invertIfNegative val="0"/>
          <c:dLbls>
            <c:numFmt formatCode="0.0" sourceLinked="0"/>
            <c:txPr>
              <a:bodyPr/>
              <a:lstStyle/>
              <a:p>
                <a:pPr>
                  <a:defRPr b="1" i="0" strike="noStrike" sz="1100" u="none">
                    <a:solidFill>
                      <a:srgbClr val="404040"/>
                    </a:solidFill>
                    <a:latin typeface="Arial"/>
                  </a:defRPr>
                </a:pPr>
              </a:p>
            </c:txPr>
            <c:showLegendKey val="0"/>
            <c:showVal val="1"/>
            <c:showCatName val="0"/>
            <c:showSerName val="0"/>
            <c:showPercent val="0"/>
            <c:showBubbleSize val="0"/>
            <c:showLeaderLines val="0"/>
          </c:dLbls>
          <c:dPt>
            <c:idx val="0"/>
            <c:invertIfNegative val="0"/>
            <c:bubble3D val="0"/>
            <c:spPr>
              <a:solidFill>
                <a:srgbClr val="003087"/>
              </a:solidFill>
              <a:effectLst/>
            </c:spPr>
          </c:dPt>
          <c:dPt>
            <c:idx val="1"/>
            <c:invertIfNegative val="0"/>
            <c:bubble3D val="0"/>
            <c:spPr>
              <a:solidFill>
                <a:srgbClr val="003087"/>
              </a:solidFill>
              <a:effectLst/>
            </c:spPr>
          </c:dPt>
          <c:dPt>
            <c:idx val="2"/>
            <c:invertIfNegative val="0"/>
            <c:bubble3D val="0"/>
            <c:spPr>
              <a:solidFill>
                <a:srgbClr val="003087"/>
              </a:solidFill>
              <a:effectLst/>
            </c:spPr>
          </c:dPt>
          <c:dPt>
            <c:idx val="3"/>
            <c:invertIfNegative val="0"/>
            <c:bubble3D val="0"/>
            <c:spPr>
              <a:solidFill>
                <a:srgbClr val="8DB9E2"/>
              </a:solidFill>
              <a:effectLst/>
            </c:spPr>
          </c:dPt>
          <c:dPt>
            <c:idx val="4"/>
            <c:invertIfNegative val="0"/>
            <c:bubble3D val="0"/>
            <c:spPr>
              <a:solidFill>
                <a:srgbClr val="0070C0"/>
              </a:solidFill>
              <a:effectLst/>
            </c:spPr>
          </c:dPt>
          <c:dPt>
            <c:idx val="5"/>
            <c:invertIfNegative val="0"/>
            <c:bubble3D val="0"/>
            <c:spPr>
              <a:solidFill>
                <a:srgbClr val="B4BCC6"/>
              </a:solidFill>
              <a:effectLst/>
            </c:spPr>
          </c:dPt>
          <c:cat>
            <c:multiLvlStrRef>
              <c:f>Sheet1!$A$2:$A$7</c:f>
              <c:multiLvlStrCache>
                <c:ptCount val="6"/>
                <c:lvl>
                  <c:pt idx="0">
                    <c:v>Frontière Allemagne–Luxembourg</c:v>
                  </c:pt>
                  <c:pt idx="1">
                    <c:v>Frontière Espagne–Andorre</c:v>
                  </c:pt>
                  <c:pt idx="2">
                    <c:v>Frontière belge</c:v>
                  </c:pt>
                  <c:pt idx="3">
                    <c:v>Frontière suisse</c:v>
                  </c:pt>
                  <c:pt idx="4">
                    <c:v>Ensemble des départements frontaliers</c:v>
                  </c:pt>
                  <c:pt idx="5">
                    <c:v>Reste de la France</c:v>
                  </c:pt>
                </c:lvl>
              </c:multiLvlStrCache>
            </c:multiLvlStrRef>
          </c:cat>
          <c:val>
            <c:numRef>
              <c:f>Sheet1!$B$2:$B$7</c:f>
              <c:numCache>
                <c:formatCode>General</c:formatCode>
                <c:ptCount val="6"/>
                <c:pt idx="0">
                  <c:v>44.6</c:v>
                </c:pt>
                <c:pt idx="1">
                  <c:v>44.5</c:v>
                </c:pt>
                <c:pt idx="2">
                  <c:v>28.8</c:v>
                </c:pt>
                <c:pt idx="3">
                  <c:v>2.6</c:v>
                </c:pt>
                <c:pt idx="4">
                  <c:v>21.9</c:v>
                </c:pt>
                <c:pt idx="5">
                  <c:v>2.4</c:v>
                </c:pt>
              </c:numCache>
            </c:numRef>
          </c:val>
        </c:ser>
        <c:dLbls>
          <c:numFmt formatCode="0.0" sourceLinked="0"/>
          <c:txPr>
            <a:bodyPr/>
            <a:lstStyle/>
            <a:p>
              <a:pPr>
                <a:defRPr b="1" i="0" strike="noStrike" sz="1100" u="none">
                  <a:solidFill>
                    <a:srgbClr val="40404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04040"/>
                </a:solidFill>
                <a:latin typeface="Aptos"/>
              </a:defRPr>
            </a:pPr>
            <a:endParaRPr lang="en-US"/>
          </a:p>
        </c:txPr>
        <c:crossAx val="2094734552"/>
        <c:crosses val="autoZero"/>
        <c:auto val="1"/>
        <c:lblAlgn val="ctr"/>
        <c:noMultiLvlLbl val="1"/>
      </c:catAx>
      <c:valAx>
        <c:axId val="2094734552"/>
        <c:scaling>
          <c:orientation val="minMax"/>
          <c:max val="5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v>
                </c:pt>
              </c:strCache>
            </c:strRef>
          </c:tx>
          <c:spPr>
            <a:solidFill>
              <a:srgbClr val="0070C0"/>
            </a:solidFill>
            <a:effectLst/>
          </c:spPr>
          <c:invertIfNegative val="0"/>
          <c:dLbls>
            <c:numFmt formatCode="+0;-0" sourceLinked="0"/>
            <c:txPr>
              <a:bodyPr/>
              <a:lstStyle/>
              <a:p>
                <a:pPr>
                  <a:defRPr b="1" i="0" strike="noStrike" sz="1100" u="none">
                    <a:solidFill>
                      <a:srgbClr val="404040"/>
                    </a:solidFill>
                    <a:latin typeface="Arial"/>
                  </a:defRPr>
                </a:pPr>
              </a:p>
            </c:txPr>
            <c:showLegendKey val="0"/>
            <c:showVal val="1"/>
            <c:showCatName val="0"/>
            <c:showSerName val="0"/>
            <c:showPercent val="0"/>
            <c:showBubbleSize val="0"/>
            <c:showLeaderLines val="0"/>
          </c:dLbls>
          <c:dPt>
            <c:idx val="0"/>
            <c:invertIfNegative val="0"/>
            <c:bubble3D val="0"/>
            <c:spPr>
              <a:solidFill>
                <a:srgbClr val="0070C0"/>
              </a:solidFill>
              <a:effectLst/>
            </c:spPr>
          </c:dPt>
          <c:dPt>
            <c:idx val="1"/>
            <c:invertIfNegative val="0"/>
            <c:bubble3D val="0"/>
            <c:spPr>
              <a:solidFill>
                <a:srgbClr val="0070C0"/>
              </a:solidFill>
              <a:effectLst/>
            </c:spPr>
          </c:dPt>
          <c:dPt>
            <c:idx val="2"/>
            <c:invertIfNegative val="0"/>
            <c:bubble3D val="0"/>
            <c:spPr>
              <a:solidFill>
                <a:srgbClr val="D9822B"/>
              </a:solidFill>
              <a:effectLst/>
            </c:spPr>
          </c:dPt>
          <c:dPt>
            <c:idx val="3"/>
            <c:invertIfNegative val="0"/>
            <c:bubble3D val="0"/>
            <c:spPr>
              <a:solidFill>
                <a:srgbClr val="D9822B"/>
              </a:solidFill>
              <a:effectLst/>
            </c:spPr>
          </c:dPt>
          <c:dPt>
            <c:idx val="4"/>
            <c:invertIfNegative val="0"/>
            <c:bubble3D val="0"/>
            <c:spPr>
              <a:solidFill>
                <a:srgbClr val="D9822B"/>
              </a:solidFill>
              <a:effectLst/>
            </c:spPr>
          </c:dPt>
          <c:dPt>
            <c:idx val="5"/>
            <c:invertIfNegative val="0"/>
            <c:bubble3D val="0"/>
            <c:spPr>
              <a:solidFill>
                <a:srgbClr val="D9822B"/>
              </a:solidFill>
              <a:effectLst/>
            </c:spPr>
          </c:dPt>
          <c:cat>
            <c:multiLvlStrRef>
              <c:f>Sheet1!$A$2:$A$7</c:f>
              <c:multiLvlStrCache>
                <c:ptCount val="6"/>
                <c:lvl>
                  <c:pt idx="0">
                    <c:v>Super et hypermarchés</c:v>
                  </c:pt>
                  <c:pt idx="1">
                    <c:v>Commerces de détail</c:v>
                  </c:pt>
                  <c:pt idx="2">
                    <c:v>Stations-service</c:v>
                  </c:pt>
                  <c:pt idx="3">
                    <c:v>Buralistes</c:v>
                  </c:pt>
                  <c:pt idx="4">
                    <c:v>Stations-service, frontière luxembourgeoise</c:v>
                  </c:pt>
                  <c:pt idx="5">
                    <c:v>Buralistes, frontière luxembourgeoise</c:v>
                  </c:pt>
                </c:lvl>
              </c:multiLvlStrCache>
            </c:multiLvlStrRef>
          </c:cat>
          <c:val>
            <c:numRef>
              <c:f>Sheet1!$B$2:$B$7</c:f>
              <c:numCache>
                <c:formatCode>General</c:formatCode>
                <c:ptCount val="6"/>
                <c:pt idx="0">
                  <c:v>6</c:v>
                </c:pt>
                <c:pt idx="1">
                  <c:v>-2</c:v>
                </c:pt>
                <c:pt idx="2">
                  <c:v>-17</c:v>
                </c:pt>
                <c:pt idx="3">
                  <c:v>-25</c:v>
                </c:pt>
                <c:pt idx="4">
                  <c:v>-57</c:v>
                </c:pt>
                <c:pt idx="5">
                  <c:v>-64</c:v>
                </c:pt>
              </c:numCache>
            </c:numRef>
          </c:val>
        </c:ser>
        <c:dLbls>
          <c:numFmt formatCode="+0;-0" sourceLinked="0"/>
          <c:txPr>
            <a:bodyPr/>
            <a:lstStyle/>
            <a:p>
              <a:pPr>
                <a:defRPr b="1" i="0" strike="noStrike" sz="1100" u="none">
                  <a:solidFill>
                    <a:srgbClr val="40404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04040"/>
                </a:solidFill>
                <a:latin typeface="Aptos"/>
              </a:defRPr>
            </a:pPr>
            <a:endParaRPr lang="en-US"/>
          </a:p>
        </c:txPr>
        <c:crossAx val="2094734552"/>
        <c:crosses val="autoZero"/>
        <c:auto val="1"/>
        <c:lblAlgn val="ctr"/>
        <c:noMultiLvlLbl val="1"/>
      </c:catAx>
      <c:valAx>
        <c:axId val="2094734552"/>
        <c:scaling>
          <c:orientation val="minMax"/>
          <c:max val="15"/>
          <c:min val="-7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2024</c:v>
                </c:pt>
              </c:strCache>
            </c:strRef>
          </c:tx>
          <c:spPr>
            <a:solidFill>
              <a:schemeClr val="accent1"/>
            </a:solidFill>
            <a:ln w="9525" cap="flat">
              <a:solidFill>
                <a:srgbClr val="F9F9F9"/>
              </a:solidFill>
              <a:prstDash val="solid"/>
              <a:round/>
            </a:ln>
            <a:effectLst/>
          </c:spPr>
          <c:dPt>
            <c:idx val="0"/>
            <c:bubble3D val="0"/>
            <c:spPr>
              <a:solidFill>
                <a:srgbClr val="003087"/>
              </a:solidFill>
              <a:effectLst/>
            </c:spPr>
          </c:dPt>
          <c:dPt>
            <c:idx val="1"/>
            <c:bubble3D val="0"/>
            <c:spPr>
              <a:solidFill>
                <a:srgbClr val="0070C0"/>
              </a:solidFill>
              <a:effectLst/>
            </c:spPr>
          </c:dPt>
          <c:dPt>
            <c:idx val="2"/>
            <c:bubble3D val="0"/>
            <c:spPr>
              <a:solidFill>
                <a:srgbClr val="8DB9E2"/>
              </a:solidFill>
              <a:effectLst/>
            </c:spPr>
          </c:dPt>
          <c:dPt>
            <c:idx val="3"/>
            <c:bubble3D val="0"/>
            <c:spPr>
              <a:solidFill>
                <a:srgbClr val="B4BCC6"/>
              </a:solidFill>
              <a:effectLst/>
            </c:spPr>
          </c:dPt>
          <c:dLbls>
            <c:dLbl>
              <c:idx val="0"/>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Périphérie</c:v>
                </c:pt>
                <c:pt idx="1">
                  <c:v>Centre-ville</c:v>
                </c:pt>
                <c:pt idx="2">
                  <c:v>Proximité</c:v>
                </c:pt>
                <c:pt idx="3">
                  <c:v>Internet</c:v>
                </c:pt>
              </c:strCache>
            </c:strRef>
          </c:cat>
          <c:val>
            <c:numRef>
              <c:f>Sheet1!$B$2:$B$5</c:f>
              <c:numCache>
                <c:ptCount val="4"/>
                <c:pt idx="0">
                  <c:v>67</c:v>
                </c:pt>
                <c:pt idx="1">
                  <c:v>11</c:v>
                </c:pt>
                <c:pt idx="2">
                  <c:v>11</c:v>
                </c:pt>
                <c:pt idx="3">
                  <c:v>11</c:v>
                </c:pt>
              </c:numCache>
            </c:numRef>
          </c:val>
        </c:ser>
        <c:firstSliceAng val="0"/>
        <c:holeSize val="55"/>
      </c:doughnutChart>
      <c:spPr>
        <a:noFill/>
        <a:ln>
          <a:noFill/>
        </a:ln>
        <a:effectLst/>
      </c:spPr>
    </c:plotArea>
    <c:legend>
      <c:legendPos val="r"/>
      <c:overlay val="0"/>
      <c:txPr>
        <a:bodyPr/>
        <a:lstStyle/>
        <a:p>
          <a:pPr>
            <a:defRPr sz="1200">
              <a:latin typeface="Aptos"/>
              <a:cs typeface="Apto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rapide, la DGE connaît ces chiffres. Trois messages : la France compte autant de micro-détaillants que l'UE (95 %), mais ses grandes entreprises captent 58 % de la valeur ajoutée contre 40 % dans l'UE. Depuis 2008, l'écart s'est creusé : +37 % de valeur ajoutée réelle pour les grandes, −24 % pour les micro. La productivité des micro recule de 23 %, ce qui suggère une baisse d'activité sans ajustement des effectifs.
Source : Commission européenne (2025), SME Performance Review 2025, https://single-market-economy.ec.europa.eu/smes/sme-strategy-and-sme-friendly-business-conditions/sme-performance-review_en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baisse des émissions du commerce de détail français (−56 %) est la plus forte de l'UE-27. Elle reflète en partie la décarbonation de l'électricité : en 2024, 95 % de l'électricité française provenait de sources renouvelables et nucléaires (ministères de l'Aménagement du territoire et de la Transition écologique, 2026), le remplacement des fluides frigorigènes imposé par la réglementation européenne et le durcissement des cadres depuis le Plan Climat de 2017.
L'enjeu suivant est le bâti : le décret tertiaire (décret n° 2019-771) impose des réductions de consommation aux bâtiments de plus de 1 000 m², ce qui concerne directement les grandes surfaces de périphérie (voir slide 7).
Sources : OCDE, Air Emissions Accounts, https://www.oecd.org/en/data/datasets/air-emissions-accounts.html ; Légifrance, décret n° 2019-771 ; Bpifrance, Prêt 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Parmi les détaillants de 10 salariés et plus, la France a atteint la moyenne européenne : environ 41 % disposent d'un site de commande, contre moins de 20 % en 2009. Pour l'IA, la France (18,2 %) se rapproche de l'UE (19,9 %) ; en 2020 elle était à 80 % du niveau européen, en 2025 à 91 %.
Point d'attention : les enquêtes TIC excluent les entreprises de moins de 10 salariés, qui représentent 95 % des détaillants. La numérisation des micro-commerçants, cible première de France Num, n'est pas mesurée dans les statistiques européennes harmonisées.
Sources : OCDE, ICT Access and Usage by Businesses ; OECD Going Digital Toolkit, https://goingdigital.oecd.org ; DGE, France Num, https://www.francenum.gouv.fr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fermeture des frontières au printemps 2020 est une expérience naturelle : les ventes de tabac ont augmenté de 21,9 % dans les départements frontaliers contre 2,4 % dans le reste de la France (Douchet, OFDT, 2021). La hausse atteint 44,6 % le long des frontières allemande et luxembourgeoise et 44,5 % le long des frontières espagnole et andorrane, mais seulement 2,6 % à la frontière suisse, où les prix sont proches des prix français (Assemblée nationale, 2021). L'Insee en déduit que les approvisionnements à l'étranger représentent au moins 9,5 % des ventes de tabac en France. KPMG estime à 11,9 % la part des cigarettes consommées en France achetées légalement à l'étranger ; l'étude est financée par un fabricant, mais ce chiffre est cohérent avec celui de l'Insee.
Pour le carburant, les écarts de prix sont connus mais les flux ne sont pas mesurables avec les données publiques (ventes annuelles par département).
Références :
- Assemblée nationale (2021), Rapport d'information n° 4498 sur la consommation de tabac pendant le confinement.
- Douchet, M.-A. (2021), Tabagisme et arrêt du tabac en 2020, OFDT.
- Hillion, M. et Monchâtre, V. (2024), « Les approvisionnements à l'étranger représentent au moins 9,5 % des ventes de tabac en France », Insee Analyses n° 94, https://www.insee.fr/fr/statistiques/7764897
- KPMG (2025), Illicit cigarette consumption in Europe, results for 2024.
- Commission européenne, Weekly Oil Bulletin ; AIE (2020), Luxembourg 2020 Energy Policy Review.
- Eurostat (2025), nama_10_fcs.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tissu commercial frontalier n'est pas en déficit général : la densité de commerces est proche de la moyenne nationale, les super et hypermarchés y sont même un peu plus fréquents, et l'emploi salarié du commerce y a progressé comme au niveau national entre 2012 et 2024 (+9,5 % contre +9,6 %). La pression est sélective : les buralistes sont 25 % moins nombreux par habitant (64 % de moins le long de la frontière luxembourgeoise) et les stations-service 17 % moins nombreuses (57 % de moins face au Luxembourg). Ce sont des traces structurelles des achats à l'étranger.
Côté politiques, les instruments spécifiques aux frontières concernent surtout le tabac (protocole buralistes, règles douanières). Les grands programmes nationaux de revitalisation ne prennent pas en compte l'exposition frontalière, et il n'existe pas de mesure officielle des achats transfrontaliers.
Ces chiffres sont des calculs descriptifs sur des données officielles (Insee BPE 2025, Urssaf, annuaire DGDDI des buralistes 2018), pas des estimations de modèle.
Références : Insee, Base permanente des équipements 2025 ; Urssaf, établissements et effectifs salariés par commune x APE ; DGDDI (2018), annuaire des buralistes ; DGDDI (2024), Achat et transport de tabac en Europe vers la France : les nouvelles règles en 2024 ; Commission européenne (2025), COM(2025) 580 ; ministère de l'Économie (2023), protocole d'accord avec la Confédération des buralistes 2023–2027 ; loi n° 2022-217 du 21 février 2022 (3DS).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France est l'un des marchés européens les plus polarisés sur la périphérie. Deux chiffres coexistent et ne se contredisent pas : 67 % de l'ensemble des ventes du commerce de détail, internet compris (Rexecode, 2024), et 72 % des dépenses réalisées en magasin (dossier de presse du Gouvernement, septembre 2023). Hors internet, les 67 % de Rexecode correspondent à environ trois quarts des ventes en magasin.
L'Insee (Insee Première n° 2091, janvier 2026) confirme la dynamique : entre 2016 et 2022, l'emploi salarié des points de vente croît de 1,6 % par an en périphérie contre 1,1 % en centre-ville. Les formats sont sans commune mesure (586 m² contre 92 m² en moyenne).
La vacance reste la plus faible en périphérie, mais elle progresse : 6,9 % en 2022, 8,4 % en 2025 (Codata).
Références :
- Rexecode (2024), répartition des ventes du commerce de détail par lieu de vente, d'après Insee, Procos et Fevad.
- Cerema (2023), Les données de géolocalisation des 1 500 zones commerciales de périphérie en open data, https://www.cerema.fr/fr/actualites/donnees-geolocalisation-1500-zones-commerciales-peripherie
- Gouvernement (2023), Un nouvel horizon pour les zones commerciales, dossier de presse, septembre 2023, https://www.info.gouv.fr/upload/media/content/0001/07/2dc90efc2c1a0e97572bf027240fac63e4dc9d75.pdf
- Bloch, K. et Pichavant, A.-S. (2026), « Entre 2016 et 2022, l'emploi salarié des points de vente progresse davantage en dehors des centres-villes », Insee Première n° 2091, https://www.insee.fr/fr/statistiques/8730497
- Codata (2026), Digest 2026 ; relayé par L'Échommerces, https://lechommerces.fr/la-vacance-commerciale-progresse-de-nouveau-en-france/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Cinquante ans de droit de l'urbanisme commercial sont passés d'une logique de protection des petits commerçants (lois Royer et Raffarin) à une logique de protection des sols (objectif ZAN, loi Climat et résilience de 2021). Les autorisations en CDAC ont chuté de 67 % entre 2019 et 2024 (Procos). L'extension n'est plus la voie principale ; la transformation de l'existant devient l'enjeu, avec en plus l'obligation de rénovation énergétique du décret tertiaire pour les grandes surfaces.
Le plan de transformation des zones commerciales, lancé le 11 septembre 2023, soutient 90 projets pour 31,4 M€. C'est significatif pour chaque projet, mais modeste au regard des 1 500 zones. Montigny-lès-Cormeilles illustre ce qu'une transformation complète demande : du temps (démarche engagée en 2010), du portage foncier et un projet urbain.
Point de comparaison européenne (à mentionner à l'oral) : parmi les pays ayant fixé des objectifs de réduction de l'artificialisation (Allemagne, Flandre, Wallonie, Luxembourg, Autriche), la France est la seule à l'avoir rendu juridiquement contraignant (Sarles-Frachon, mémoire EMSFI, 2022).
Références :
- LSA (2025), « La fédération Procos pointe un reflux historique des autorisations de surface commerciales », https://www.lsa-conso.fr/la-federation-procos-pointe-un-reflux-historique-des-autorisations-de-surface-commerciales,137327
- Ministère de l'Économie (2024), Plan de transformation des zones commerciales, https://presse.economie.gouv.fr/plan-de-transformation-des-zones-commerciales/ ; DGE (2024), Annonce des 74 lauréats, https://www.entreprises.gouv.fr/la-direction-generale-des-entreprises/actualites/annonce-74-laureats-plan-transformation-zones-commerciales
- ANCT, Fonds de transformation environnementale des zones commerciales périurbaines, https://anct.gouv.fr/programmes-dispositifs/reconquete-commerciale/le-fonds-de-transformation-environnementale-des-zones
- Cerema, Urbanisme commercial, fiche n° 3, Transformer les périphéries commerciales : des facteurs clés du succès.
- Légifrance : décret n° 2019-771 (décret tertiaire) ; loi n° 2021-1104 (Climat et résilience).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Rappel : un commerce dominé en nombre par les micro-entreprises, mais dont la valeur ajoutée se concentre dans les grandes</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694944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Valeur ajoutée réelle du commerce de détail par taille d'entreprise (indice 2008 = 100)</a:t>
            </a:r>
            <a:endParaRPr lang="en-US" sz="1200" dirty="0"/>
          </a:p>
        </p:txBody>
      </p:sp>
      <p:graphicFrame>
        <p:nvGraphicFramePr>
          <p:cNvPr id="7" name="Chart 0" descr=""/>
          <p:cNvGraphicFramePr/>
          <p:nvPr/>
        </p:nvGraphicFramePr>
        <p:xfrm>
          <a:off x="274320" y="14173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417320"/>
          </a:xfrm>
          <a:prstGeom prst="rect">
            <a:avLst/>
          </a:prstGeom>
          <a:solidFill>
            <a:srgbClr val="EBF4FB"/>
          </a:solidFill>
          <a:ln w="12700">
            <a:solidFill>
              <a:srgbClr val="EBF4FB"/>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95 %</a:t>
            </a:r>
            <a:endParaRPr lang="en-US" sz="2800" dirty="0"/>
          </a:p>
        </p:txBody>
      </p:sp>
      <p:sp>
        <p:nvSpPr>
          <p:cNvPr id="10" name="Text 7"/>
          <p:cNvSpPr txBox="1"/>
          <p:nvPr/>
        </p:nvSpPr>
        <p:spPr>
          <a:xfrm>
            <a:off x="779068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détaillants sont des micro-entreprises (UE : 94 %)</a:t>
            </a:r>
            <a:endParaRPr lang="en-US" sz="1100" dirty="0"/>
          </a:p>
        </p:txBody>
      </p:sp>
      <p:sp>
        <p:nvSpPr>
          <p:cNvPr id="11" name="Shape 8"/>
          <p:cNvSpPr/>
          <p:nvPr/>
        </p:nvSpPr>
        <p:spPr>
          <a:xfrm>
            <a:off x="9829800" y="1097280"/>
            <a:ext cx="2011680" cy="1417320"/>
          </a:xfrm>
          <a:prstGeom prst="rect">
            <a:avLst/>
          </a:prstGeom>
          <a:solidFill>
            <a:srgbClr val="EBF4FB"/>
          </a:solidFill>
          <a:ln w="12700">
            <a:solidFill>
              <a:srgbClr val="EBF4FB"/>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58 %</a:t>
            </a:r>
            <a:endParaRPr lang="en-US" sz="2800" dirty="0"/>
          </a:p>
        </p:txBody>
      </p:sp>
      <p:sp>
        <p:nvSpPr>
          <p:cNvPr id="13" name="Text 10"/>
          <p:cNvSpPr txBox="1"/>
          <p:nvPr/>
        </p:nvSpPr>
        <p:spPr>
          <a:xfrm>
            <a:off x="993952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la valeur ajoutée captée par les grandes entreprises (UE : 40 %)</a:t>
            </a:r>
            <a:endParaRPr lang="en-US" sz="1100" dirty="0"/>
          </a:p>
        </p:txBody>
      </p:sp>
      <p:sp>
        <p:nvSpPr>
          <p:cNvPr id="14" name="Shape 11"/>
          <p:cNvSpPr/>
          <p:nvPr/>
        </p:nvSpPr>
        <p:spPr>
          <a:xfrm>
            <a:off x="7680960" y="2651760"/>
            <a:ext cx="2011680" cy="1417320"/>
          </a:xfrm>
          <a:prstGeom prst="rect">
            <a:avLst/>
          </a:prstGeom>
          <a:solidFill>
            <a:srgbClr val="EBF4FB"/>
          </a:solidFill>
          <a:ln w="12700">
            <a:solidFill>
              <a:srgbClr val="EBF4FB"/>
            </a:solidFill>
            <a:prstDash val="solid"/>
          </a:ln>
        </p:spPr>
      </p:sp>
      <p:sp>
        <p:nvSpPr>
          <p:cNvPr id="15" name="Text 12"/>
          <p:cNvSpPr txBox="1"/>
          <p:nvPr/>
        </p:nvSpPr>
        <p:spPr>
          <a:xfrm>
            <a:off x="7790688" y="272491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+37 %</a:t>
            </a:r>
            <a:endParaRPr lang="en-US" sz="2800" dirty="0"/>
          </a:p>
        </p:txBody>
      </p:sp>
      <p:sp>
        <p:nvSpPr>
          <p:cNvPr id="16" name="Text 13"/>
          <p:cNvSpPr txBox="1"/>
          <p:nvPr/>
        </p:nvSpPr>
        <p:spPr>
          <a:xfrm>
            <a:off x="7790688" y="331012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valeur ajoutée réelle des grandes entreprises, 2008–2024</a:t>
            </a:r>
            <a:endParaRPr lang="en-US" sz="1100" dirty="0"/>
          </a:p>
        </p:txBody>
      </p:sp>
      <p:sp>
        <p:nvSpPr>
          <p:cNvPr id="17" name="Shape 14"/>
          <p:cNvSpPr/>
          <p:nvPr/>
        </p:nvSpPr>
        <p:spPr>
          <a:xfrm>
            <a:off x="9829800" y="2651760"/>
            <a:ext cx="2011680" cy="1417320"/>
          </a:xfrm>
          <a:prstGeom prst="rect">
            <a:avLst/>
          </a:prstGeom>
          <a:solidFill>
            <a:srgbClr val="EBF4FB"/>
          </a:solidFill>
          <a:ln w="12700">
            <a:solidFill>
              <a:srgbClr val="EBF4FB"/>
            </a:solidFill>
            <a:prstDash val="solid"/>
          </a:ln>
        </p:spPr>
      </p:sp>
      <p:sp>
        <p:nvSpPr>
          <p:cNvPr id="18" name="Text 15"/>
          <p:cNvSpPr txBox="1"/>
          <p:nvPr/>
        </p:nvSpPr>
        <p:spPr>
          <a:xfrm>
            <a:off x="9939528" y="2724912"/>
            <a:ext cx="1792224" cy="566928"/>
          </a:xfrm>
          <a:prstGeom prst="rect">
            <a:avLst/>
          </a:prstGeom>
          <a:noFill/>
          <a:ln/>
        </p:spPr>
        <p:txBody>
          <a:bodyPr wrap="square" lIns="0" tIns="0" rIns="0" bIns="0" rtlCol="0" anchor="ctr"/>
          <a:lstStyle/>
          <a:p>
            <a:pPr indent="0" marL="0">
              <a:buNone/>
            </a:pPr>
            <a:r>
              <a:rPr lang="en-US" sz="2800" b="1" dirty="0">
                <a:solidFill>
                  <a:srgbClr val="D9822B"/>
                </a:solidFill>
                <a:latin typeface="Aptos" pitchFamily="34" charset="0"/>
                <a:ea typeface="Aptos" pitchFamily="34" charset="-122"/>
                <a:cs typeface="Aptos" pitchFamily="34" charset="-120"/>
              </a:rPr>
              <a:t>−24 %</a:t>
            </a:r>
            <a:endParaRPr lang="en-US" sz="2800" dirty="0"/>
          </a:p>
        </p:txBody>
      </p:sp>
      <p:sp>
        <p:nvSpPr>
          <p:cNvPr id="19" name="Text 16"/>
          <p:cNvSpPr txBox="1"/>
          <p:nvPr/>
        </p:nvSpPr>
        <p:spPr>
          <a:xfrm>
            <a:off x="9939528" y="331012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valeur ajoutée réelle des micro-entreprises, 2008–2024</a:t>
            </a:r>
            <a:endParaRPr lang="en-US" sz="1100" dirty="0"/>
          </a:p>
        </p:txBody>
      </p:sp>
      <p:sp>
        <p:nvSpPr>
          <p:cNvPr id="20" name="Text 17"/>
          <p:cNvSpPr txBox="1"/>
          <p:nvPr/>
        </p:nvSpPr>
        <p:spPr>
          <a:xfrm>
            <a:off x="7680960" y="4251960"/>
            <a:ext cx="4160520" cy="1737360"/>
          </a:xfrm>
          <a:prstGeom prst="rect">
            <a:avLst/>
          </a:prstGeom>
          <a:noFill/>
          <a:ln/>
        </p:spPr>
        <p:txBody>
          <a:bodyPr wrap="square" lIns="0" tIns="0" rIns="0" bIns="0" rtlCol="0" anchor="t"/>
          <a:lstStyle/>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Productivité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la valeur ajoutée par salarié des micro-détaillants recule de 23 % depuis 2008 ; les gains se concentrent dans les moyennes et grandes entreprises.</a:t>
            </a:r>
            <a:endParaRPr lang="en-US" sz="1150" dirty="0"/>
          </a:p>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Un milieu de gamme étroit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les PME emploient 54 % des salariés du secteur (UE : 64 %) et produisent 42 % de sa valeur ajoutée (UE : 60 %).</a:t>
            </a:r>
            <a:endParaRPr lang="en-US" sz="1150" dirty="0"/>
          </a:p>
        </p:txBody>
      </p:sp>
      <p:sp>
        <p:nvSpPr>
          <p:cNvPr id="21" name="Text 18"/>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NACE G47 ; valeur ajoutée en euros constants ; 2024 = estimations de prévision immédiate du CCR.</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 : Commission européenne (2025), SME Performance Review 2025, données CCR/Eurostat (statistiques structurelles sur les entreprises).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Durabilité : des émissions du commerce de détail en forte baisse ; l'effort porte désormais sur le bâti commercial</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694944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Émissions de GES du commerce de détail (NACE G47), indice 2008 = 100</a:t>
            </a:r>
            <a:endParaRPr lang="en-US" sz="1200" dirty="0"/>
          </a:p>
        </p:txBody>
      </p:sp>
      <p:graphicFrame>
        <p:nvGraphicFramePr>
          <p:cNvPr id="7" name="Chart 0" descr=""/>
          <p:cNvGraphicFramePr/>
          <p:nvPr/>
        </p:nvGraphicFramePr>
        <p:xfrm>
          <a:off x="274320" y="14173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417320"/>
          </a:xfrm>
          <a:prstGeom prst="rect">
            <a:avLst/>
          </a:prstGeom>
          <a:solidFill>
            <a:srgbClr val="E8F5E9"/>
          </a:solidFill>
          <a:ln w="12700">
            <a:solidFill>
              <a:srgbClr val="E8F5E9"/>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1D774A"/>
                </a:solidFill>
                <a:latin typeface="Aptos" pitchFamily="34" charset="0"/>
                <a:ea typeface="Aptos" pitchFamily="34" charset="-122"/>
                <a:cs typeface="Aptos" pitchFamily="34" charset="-120"/>
              </a:rPr>
              <a:t>−56 %</a:t>
            </a:r>
            <a:endParaRPr lang="en-US" sz="2800" dirty="0"/>
          </a:p>
        </p:txBody>
      </p:sp>
      <p:sp>
        <p:nvSpPr>
          <p:cNvPr id="10" name="Text 7"/>
          <p:cNvSpPr txBox="1"/>
          <p:nvPr/>
        </p:nvSpPr>
        <p:spPr>
          <a:xfrm>
            <a:off x="779068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émissions de GES du commerce de détail français, 2008–2024 (UE-27 : −39 %)</a:t>
            </a:r>
            <a:endParaRPr lang="en-US" sz="1100" dirty="0"/>
          </a:p>
        </p:txBody>
      </p:sp>
      <p:sp>
        <p:nvSpPr>
          <p:cNvPr id="11" name="Shape 8"/>
          <p:cNvSpPr/>
          <p:nvPr/>
        </p:nvSpPr>
        <p:spPr>
          <a:xfrm>
            <a:off x="9829800" y="1097280"/>
            <a:ext cx="2011680" cy="1417320"/>
          </a:xfrm>
          <a:prstGeom prst="rect">
            <a:avLst/>
          </a:prstGeom>
          <a:solidFill>
            <a:srgbClr val="E8F5E9"/>
          </a:solidFill>
          <a:ln w="12700">
            <a:solidFill>
              <a:srgbClr val="E8F5E9"/>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1D774A"/>
                </a:solidFill>
                <a:latin typeface="Aptos" pitchFamily="34" charset="0"/>
                <a:ea typeface="Aptos" pitchFamily="34" charset="-122"/>
                <a:cs typeface="Aptos" pitchFamily="34" charset="-120"/>
              </a:rPr>
              <a:t>1er</a:t>
            </a:r>
            <a:endParaRPr lang="en-US" sz="2800" dirty="0"/>
          </a:p>
        </p:txBody>
      </p:sp>
      <p:sp>
        <p:nvSpPr>
          <p:cNvPr id="13" name="Text 10"/>
          <p:cNvSpPr txBox="1"/>
          <p:nvPr/>
        </p:nvSpPr>
        <p:spPr>
          <a:xfrm>
            <a:off x="993952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rang de la France dans l'UE-27 pour la réduction sur la période</a:t>
            </a:r>
            <a:endParaRPr lang="en-US" sz="1100" dirty="0"/>
          </a:p>
        </p:txBody>
      </p:sp>
      <p:sp>
        <p:nvSpPr>
          <p:cNvPr id="14" name="Text 11"/>
          <p:cNvSpPr txBox="1"/>
          <p:nvPr/>
        </p:nvSpPr>
        <p:spPr>
          <a:xfrm>
            <a:off x="7680960" y="2697480"/>
            <a:ext cx="4160520" cy="3291840"/>
          </a:xfrm>
          <a:prstGeom prst="rect">
            <a:avLst/>
          </a:prstGeom>
          <a:noFill/>
          <a:ln/>
        </p:spPr>
        <p:txBody>
          <a:bodyPr wrap="square" lIns="0" tIns="0" rIns="0" bIns="0" rtlCol="0" anchor="t"/>
          <a:lstStyle/>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Décret tertiaire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les bâtiments tertiaires de plus de 1 000 m², dont les grandes surfaces, doivent réduire leur consommation d'énergie de 40 % en 2030, 50 % en 2040 et 60 % en 2050.</a:t>
            </a:r>
            <a:endParaRPr lang="en-US" sz="1250" dirty="0"/>
          </a:p>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Prêt Vert (Bpifrance, Banque des Territoires)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5 000 à 50 000 € sur 2 à 10 ans, adossé à un prêt bancaire équivalent.</a:t>
            </a:r>
            <a:endParaRPr lang="en-US" sz="1250" dirty="0"/>
          </a:p>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Un écosystème orienté vert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22 mesures uniquement « vertes » recensées, contre 5 uniquement numériques et 4 mixtes ; la plupart prennent la forme d'expertise plutôt que de financement.</a:t>
            </a:r>
            <a:endParaRPr lang="en-US" sz="1250" dirty="0"/>
          </a:p>
        </p:txBody>
      </p:sp>
      <p:sp>
        <p:nvSpPr>
          <p:cNvPr id="15" name="Text 12"/>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Sources : OCDE (2026), Air Emissions Accounts (GES hors CO₂ de la biomasse, principe de résidence ; UE-27 estimée) ; décret n° 2019-771 du 23 juillet 2019 ; Bpifrance, Prêt Vert ; OCDE, inventaire des politiques (réunion DGE,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Numérique : les détaillants de 10 salariés et plus ont rejoint la moyenne européenne ; les micro-entreprises échappent à la mesure</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713232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Détaillants disposant d'un site web permettant de passer commande (% des entreprises de 10 salariés et plus)</a:t>
            </a:r>
            <a:endParaRPr lang="en-US" sz="1200" dirty="0"/>
          </a:p>
        </p:txBody>
      </p:sp>
      <p:graphicFrame>
        <p:nvGraphicFramePr>
          <p:cNvPr id="7" name="Chart 0" descr=""/>
          <p:cNvGraphicFramePr/>
          <p:nvPr/>
        </p:nvGraphicFramePr>
        <p:xfrm>
          <a:off x="274320" y="14173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417320"/>
          </a:xfrm>
          <a:prstGeom prst="rect">
            <a:avLst/>
          </a:prstGeom>
          <a:solidFill>
            <a:srgbClr val="EBF4FB"/>
          </a:solidFill>
          <a:ln w="12700">
            <a:solidFill>
              <a:srgbClr val="EBF4FB"/>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41,5 %</a:t>
            </a:r>
            <a:endParaRPr lang="en-US" sz="2800" dirty="0"/>
          </a:p>
        </p:txBody>
      </p:sp>
      <p:sp>
        <p:nvSpPr>
          <p:cNvPr id="10" name="Text 7"/>
          <p:cNvSpPr txBox="1"/>
          <p:nvPr/>
        </p:nvSpPr>
        <p:spPr>
          <a:xfrm>
            <a:off x="779068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détaillants français vendent via leur site en 2025 (UE-27 : 41,6 %)</a:t>
            </a:r>
            <a:endParaRPr lang="en-US" sz="1100" dirty="0"/>
          </a:p>
        </p:txBody>
      </p:sp>
      <p:sp>
        <p:nvSpPr>
          <p:cNvPr id="11" name="Shape 8"/>
          <p:cNvSpPr/>
          <p:nvPr/>
        </p:nvSpPr>
        <p:spPr>
          <a:xfrm>
            <a:off x="9829800" y="1097280"/>
            <a:ext cx="2011680" cy="1417320"/>
          </a:xfrm>
          <a:prstGeom prst="rect">
            <a:avLst/>
          </a:prstGeom>
          <a:solidFill>
            <a:srgbClr val="EBF4FB"/>
          </a:solidFill>
          <a:ln w="12700">
            <a:solidFill>
              <a:srgbClr val="EBF4FB"/>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18,2 %</a:t>
            </a:r>
            <a:endParaRPr lang="en-US" sz="2800" dirty="0"/>
          </a:p>
        </p:txBody>
      </p:sp>
      <p:sp>
        <p:nvSpPr>
          <p:cNvPr id="13" name="Text 10"/>
          <p:cNvSpPr txBox="1"/>
          <p:nvPr/>
        </p:nvSpPr>
        <p:spPr>
          <a:xfrm>
            <a:off x="993952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entreprises françaises utilisent l'IA en 2025 (UE-27 : 19,9 %), toutes activités</a:t>
            </a:r>
            <a:endParaRPr lang="en-US" sz="1100" dirty="0"/>
          </a:p>
        </p:txBody>
      </p:sp>
      <p:sp>
        <p:nvSpPr>
          <p:cNvPr id="14" name="Text 11"/>
          <p:cNvSpPr txBox="1"/>
          <p:nvPr/>
        </p:nvSpPr>
        <p:spPr>
          <a:xfrm>
            <a:off x="7680960" y="2697480"/>
            <a:ext cx="4160520" cy="3291840"/>
          </a:xfrm>
          <a:prstGeom prst="rect">
            <a:avLst/>
          </a:prstGeom>
          <a:noFill/>
          <a:ln/>
        </p:spPr>
        <p:txBody>
          <a:bodyPr wrap="square" lIns="0" tIns="0" rIns="0" bIns="0" rtlCol="0" anchor="t"/>
          <a:lstStyle/>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Angle mort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ces indicateurs excluent les micro-entreprises, soit environ 95 % des détaillants, et les ventes via places de marché.</a:t>
            </a:r>
            <a:endParaRPr lang="en-US" sz="1250" dirty="0"/>
          </a:p>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France Num (DGE, 2018)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plus de 70 partenaires, plus de 4 000 « Activateurs » (premier rendez-vous gratuit), Prêt Boost de 5 000 à 75 000 € sans garantie.</a:t>
            </a:r>
            <a:endParaRPr lang="en-US" sz="1250" dirty="0"/>
          </a:p>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PNRR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21,6 % de l'enveloppe consacrée à la transition numérique ; les bénéfices pour le commerce de détail restent surtout indirects.</a:t>
            </a:r>
            <a:endParaRPr lang="en-US" sz="1250" dirty="0"/>
          </a:p>
        </p:txBody>
      </p:sp>
      <p:sp>
        <p:nvSpPr>
          <p:cNvPr id="15" name="Text 12"/>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séries hors ruptures ; la France progresse plus vite que l'UE pour l'IA (×3,8 contre ×3,3 depuis 2020).</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OCDE (2026), base de données sur l'accès et l'utilisation des TIC par les entreprises (NACE G47 ; IA : toutes activités) ; DGE, France Num ; Gouvernement, PNRR (2021).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frontalières : la fermeture des frontières de 2020 a révélé l'ampleur des achats de tabac à l'étranger</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713232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Hausse des ventes de tabac pendant la fermeture des frontières, printemps 2020 (% sur un an)</a:t>
            </a:r>
            <a:endParaRPr lang="en-US" sz="1200" dirty="0"/>
          </a:p>
        </p:txBody>
      </p:sp>
      <p:graphicFrame>
        <p:nvGraphicFramePr>
          <p:cNvPr id="7" name="Chart 0" descr=""/>
          <p:cNvGraphicFramePr/>
          <p:nvPr/>
        </p:nvGraphicFramePr>
        <p:xfrm>
          <a:off x="274320" y="1463040"/>
          <a:ext cx="7132320" cy="44348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554480"/>
          </a:xfrm>
          <a:prstGeom prst="rect">
            <a:avLst/>
          </a:prstGeom>
          <a:solidFill>
            <a:srgbClr val="EBF4FB"/>
          </a:solidFill>
          <a:ln w="12700">
            <a:solidFill>
              <a:srgbClr val="EBF4FB"/>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 9,5 %</a:t>
            </a:r>
            <a:endParaRPr lang="en-US" sz="2800" dirty="0"/>
          </a:p>
        </p:txBody>
      </p:sp>
      <p:sp>
        <p:nvSpPr>
          <p:cNvPr id="10" name="Text 7"/>
          <p:cNvSpPr txBox="1"/>
          <p:nvPr/>
        </p:nvSpPr>
        <p:spPr>
          <a:xfrm>
            <a:off x="7790688" y="1755648"/>
            <a:ext cx="1792224" cy="82296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ventes de tabac en France correspondent à des achats à l'étranger (Insee)</a:t>
            </a:r>
            <a:endParaRPr lang="en-US" sz="1100" dirty="0"/>
          </a:p>
        </p:txBody>
      </p:sp>
      <p:sp>
        <p:nvSpPr>
          <p:cNvPr id="11" name="Shape 8"/>
          <p:cNvSpPr/>
          <p:nvPr/>
        </p:nvSpPr>
        <p:spPr>
          <a:xfrm>
            <a:off x="9829800" y="1097280"/>
            <a:ext cx="2011680" cy="1554480"/>
          </a:xfrm>
          <a:prstGeom prst="rect">
            <a:avLst/>
          </a:prstGeom>
          <a:solidFill>
            <a:srgbClr val="EBF4FB"/>
          </a:solidFill>
          <a:ln w="12700">
            <a:solidFill>
              <a:srgbClr val="EBF4FB"/>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11,9 %</a:t>
            </a:r>
            <a:endParaRPr lang="en-US" sz="2800" dirty="0"/>
          </a:p>
        </p:txBody>
      </p:sp>
      <p:sp>
        <p:nvSpPr>
          <p:cNvPr id="13" name="Text 10"/>
          <p:cNvSpPr txBox="1"/>
          <p:nvPr/>
        </p:nvSpPr>
        <p:spPr>
          <a:xfrm>
            <a:off x="9939528" y="1755648"/>
            <a:ext cx="1792224" cy="82296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cigarettes consommées en France achetées légalement à l'étranger en 2024 (KPMG)</a:t>
            </a:r>
            <a:endParaRPr lang="en-US" sz="1100" dirty="0"/>
          </a:p>
        </p:txBody>
      </p:sp>
      <p:sp>
        <p:nvSpPr>
          <p:cNvPr id="14" name="Text 11"/>
          <p:cNvSpPr txBox="1"/>
          <p:nvPr/>
        </p:nvSpPr>
        <p:spPr>
          <a:xfrm>
            <a:off x="7680960" y="2834640"/>
            <a:ext cx="4160520" cy="315468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Carburant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pendant la fermeture, le sans-plomb coûtait 1,28 €/l en France contre 0,97 € au Luxembourg ; les non-résidents y achètent environ deux tiers du carburant routier.</a:t>
            </a:r>
            <a:endParaRPr lang="en-US" sz="1200" dirty="0"/>
          </a:p>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Sans données mensuelles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les ventes de carburant ne sont publiées qu'à l'échelle annuelle par département, ce qui empêche de mesurer les flux.</a:t>
            </a:r>
            <a:endParaRPr lang="en-US" sz="1200" dirty="0"/>
          </a:p>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Vue d'ensemble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tourisme compris, la France reste bénéficiaire : les non-résidents y dépensent l'équivalent de 4,4 % de la consommation des ménages, les résidents 3,5 % à l'étranger (2023).</a:t>
            </a:r>
            <a:endParaRPr lang="en-US" sz="1200" dirty="0"/>
          </a:p>
        </p:txBody>
      </p:sp>
      <p:sp>
        <p:nvSpPr>
          <p:cNvPr id="15" name="Text 12"/>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façades, 16 mars–14 juin 2020 ; ensemble des départements frontaliers et reste de la France, 2e trimestre 2020.</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Assemblée nationale (2021), rapport d'information n° 4498 ; Douchet (2021), OFDT ; Hillion et Monchâtre (2024), Insee Analyses n° 94 ; KPMG (2025), étude commandée par PMI ; Commission européenne, Bulletin pétrolier ; AIE (2020) ; SDES ; Eurostat (2025), nama_10_fcs (P33, P34).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frontalières : un tissu commercial solide mais aminci là où les écarts de prix sont forts ; des politiques peu territorialisées</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539496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Densité d'équipements, zone frontalière (0–20 km) par rapport à la France métropolitaine (écart en %)</a:t>
            </a:r>
            <a:endParaRPr lang="en-US" sz="1200" dirty="0"/>
          </a:p>
        </p:txBody>
      </p:sp>
      <p:graphicFrame>
        <p:nvGraphicFramePr>
          <p:cNvPr id="7" name="Chart 0" descr=""/>
          <p:cNvGraphicFramePr/>
          <p:nvPr/>
        </p:nvGraphicFramePr>
        <p:xfrm>
          <a:off x="274320" y="1463040"/>
          <a:ext cx="5394960" cy="39776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365760" y="5440680"/>
            <a:ext cx="5303520" cy="457200"/>
          </a:xfrm>
          <a:prstGeom prst="rect">
            <a:avLst/>
          </a:prstGeom>
          <a:noFill/>
          <a:ln/>
        </p:spPr>
        <p:txBody>
          <a:bodyPr wrap="square" lIns="0" tIns="0" rIns="0" bIns="0" rtlCol="0" anchor="t"/>
          <a:lstStyle/>
          <a:p>
            <a:pPr indent="0" marL="0">
              <a:buNone/>
            </a:pPr>
            <a:r>
              <a:rPr lang="en-US" sz="1100" b="1" dirty="0">
                <a:solidFill>
                  <a:srgbClr val="003087"/>
                </a:solidFill>
                <a:latin typeface="Aptos" pitchFamily="34" charset="0"/>
                <a:ea typeface="Aptos" pitchFamily="34" charset="-122"/>
                <a:cs typeface="Aptos" pitchFamily="34" charset="-120"/>
              </a:rPr>
              <a:t>Emploi salarié du commerce de détail, 2012–2024 : +9,5 % en zone frontalière, +9,6 % en France métropolitaine.</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0" y="1097280"/>
          <a:ext cx="5897880" cy="914400"/>
        </p:xfrm>
        <a:graphic>
          <a:graphicData uri="http://schemas.openxmlformats.org/drawingml/2006/table">
            <a:tbl>
              <a:tblPr/>
              <a:tblGrid>
                <a:gridCol w="868680"/>
                <a:gridCol w="1920240"/>
                <a:gridCol w="3108960"/>
              </a:tblGrid>
              <a:tr h="566928">
                <a:tc>
                  <a:txBody>
                    <a:bodyPr/>
                    <a:lstStyle/>
                    <a:p>
                      <a:pPr indent="0" marL="0">
                        <a:buNone/>
                      </a:pPr>
                      <a:r>
                        <a:rPr lang="en-US" sz="1000" b="1" dirty="0">
                          <a:solidFill>
                            <a:srgbClr val="FFFFFF"/>
                          </a:solidFill>
                          <a:latin typeface="Aptos" pitchFamily="34" charset="0"/>
                          <a:ea typeface="Aptos" pitchFamily="34" charset="-122"/>
                          <a:cs typeface="Aptos" pitchFamily="34" charset="-120"/>
                        </a:rPr>
                        <a:t>Niveau</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c>
                  <a:txBody>
                    <a:bodyPr/>
                    <a:lstStyle/>
                    <a:p>
                      <a:pPr indent="0" marL="0">
                        <a:buNone/>
                      </a:pPr>
                      <a:r>
                        <a:rPr lang="en-US" sz="1000" b="1" dirty="0">
                          <a:solidFill>
                            <a:srgbClr val="FFFFFF"/>
                          </a:solidFill>
                          <a:latin typeface="Aptos" pitchFamily="34" charset="0"/>
                          <a:ea typeface="Aptos" pitchFamily="34" charset="-122"/>
                          <a:cs typeface="Aptos" pitchFamily="34" charset="-120"/>
                        </a:rPr>
                        <a:t>Instrument</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c>
                  <a:txBody>
                    <a:bodyPr/>
                    <a:lstStyle/>
                    <a:p>
                      <a:pPr indent="0" marL="0">
                        <a:buNone/>
                      </a:pPr>
                      <a:r>
                        <a:rPr lang="en-US" sz="1000" b="1" dirty="0">
                          <a:solidFill>
                            <a:srgbClr val="FFFFFF"/>
                          </a:solidFill>
                          <a:latin typeface="Aptos" pitchFamily="34" charset="0"/>
                          <a:ea typeface="Aptos" pitchFamily="34" charset="-122"/>
                          <a:cs typeface="Aptos" pitchFamily="34" charset="-120"/>
                        </a:rPr>
                        <a:t>Ce qu'il fait pour le commerce frontalier</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r>
              <a:tr h="566928">
                <a:tc>
                  <a:txBody>
                    <a:bodyPr/>
                    <a:lstStyle/>
                    <a:p>
                      <a:pPr indent="0" marL="0">
                        <a:buNone/>
                      </a:pPr>
                      <a:r>
                        <a:rPr lang="en-US" sz="1000" b="1" dirty="0">
                          <a:solidFill>
                            <a:srgbClr val="003087"/>
                          </a:solidFill>
                          <a:latin typeface="Aptos" pitchFamily="34" charset="0"/>
                          <a:ea typeface="Aptos" pitchFamily="34" charset="-122"/>
                          <a:cs typeface="Aptos" pitchFamily="34" charset="-120"/>
                        </a:rPr>
                        <a:t>UE</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Révision de la directive sur la taxation du tabac (proposition 2025)</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Relève les minima d'accises à partir de 2028 ; ne couvre ni Andorre ni la Suisse</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1000" b="1" dirty="0">
                          <a:solidFill>
                            <a:srgbClr val="003087"/>
                          </a:solidFill>
                          <a:latin typeface="Aptos" pitchFamily="34" charset="0"/>
                          <a:ea typeface="Aptos" pitchFamily="34" charset="-122"/>
                          <a:cs typeface="Aptos" pitchFamily="34" charset="-120"/>
                        </a:rPr>
                        <a:t>UE</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Interreg VI-A</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Numérisation des PME sur plusieurs frontières ; aucune priorité PME dans le programme Grande Région</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1000" b="1" dirty="0">
                          <a:solidFill>
                            <a:srgbClr val="003087"/>
                          </a:solidFill>
                          <a:latin typeface="Aptos" pitchFamily="34" charset="0"/>
                          <a:ea typeface="Aptos" pitchFamily="34" charset="-122"/>
                          <a:cs typeface="Aptos" pitchFamily="34" charset="-120"/>
                        </a:rPr>
                        <a:t>National</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Protocole buralistes 2023–2027</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Transformation jusqu'à 33 000 € ; prime de diversification portée à 2 500 € dans les départements frontaliers</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1000" b="1" dirty="0">
                          <a:solidFill>
                            <a:srgbClr val="003087"/>
                          </a:solidFill>
                          <a:latin typeface="Aptos" pitchFamily="34" charset="0"/>
                          <a:ea typeface="Aptos" pitchFamily="34" charset="-122"/>
                          <a:cs typeface="Aptos" pitchFamily="34" charset="-120"/>
                        </a:rPr>
                        <a:t>National</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Douane, règles 2024</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12 critères pour qualifier un achat de tabac à l'étranger de commercial, dès une cartouche</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1000" b="1" dirty="0">
                          <a:solidFill>
                            <a:srgbClr val="003087"/>
                          </a:solidFill>
                          <a:latin typeface="Aptos" pitchFamily="34" charset="0"/>
                          <a:ea typeface="Aptos" pitchFamily="34" charset="-122"/>
                          <a:cs typeface="Aptos" pitchFamily="34" charset="-120"/>
                        </a:rPr>
                        <a:t>National</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Loi 3DS (2022)</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Permet d'associer les communes étrangères voisines aux CDAC</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1000" b="1" dirty="0">
                          <a:solidFill>
                            <a:srgbClr val="003087"/>
                          </a:solidFill>
                          <a:latin typeface="Aptos" pitchFamily="34" charset="0"/>
                          <a:ea typeface="Aptos" pitchFamily="34" charset="-122"/>
                          <a:cs typeface="Aptos" pitchFamily="34" charset="-120"/>
                        </a:rPr>
                        <a:t>Constat</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dirty="0">
                          <a:solidFill>
                            <a:srgbClr val="404040"/>
                          </a:solidFill>
                          <a:latin typeface="Aptos" pitchFamily="34" charset="0"/>
                          <a:ea typeface="Aptos" pitchFamily="34" charset="-122"/>
                          <a:cs typeface="Aptos" pitchFamily="34" charset="-120"/>
                        </a:rPr>
                        <a:t>Action Cœur de Ville, Petites villes de demain, FRR</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000" b="1" dirty="0">
                          <a:solidFill>
                            <a:srgbClr val="D9822B"/>
                          </a:solidFill>
                          <a:latin typeface="Aptos" pitchFamily="34" charset="0"/>
                          <a:ea typeface="Aptos" pitchFamily="34" charset="-122"/>
                          <a:cs typeface="Aptos" pitchFamily="34" charset="-120"/>
                        </a:rPr>
                        <a:t>Aucun critère d'exposition frontalière ; pas de mesure officielle des achats transfrontaliers</a:t>
                      </a:r>
                      <a:endParaRPr lang="en-US" sz="100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bl>
          </a:graphicData>
        </a:graphic>
      </p:graphicFrame>
      <p:sp>
        <p:nvSpPr>
          <p:cNvPr id="10" name="Text 6"/>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densités pour 10 000 habitants, communes à moins de 20 km d'une frontière terrestre ; buralistes : annuaire 2018 ; emploi : secteur privé, NAF 47.</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calculs des auteurs d'après Insee, BPE 2025 et populations de référence 2023 ; DGDDI (2018, 2024) ; Urssaf ; Commission européenne, COM(2025) 580 ; Interact (2026) ; ministère de l'Économie (2023), protocole buralistes ; loi n° 2022-217 (3DS).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commerciales périphériques : deux tiers des ventes et une dynamique d'emploi supérieure à celle des centres-villes</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539496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Répartition des ventes du commerce de détail par lieu de vente, 2024 (%)</a:t>
            </a:r>
            <a:endParaRPr lang="en-US" sz="1200" dirty="0"/>
          </a:p>
        </p:txBody>
      </p:sp>
      <p:graphicFrame>
        <p:nvGraphicFramePr>
          <p:cNvPr id="7" name="Chart 0" descr=""/>
          <p:cNvGraphicFramePr/>
          <p:nvPr/>
        </p:nvGraphicFramePr>
        <p:xfrm>
          <a:off x="274320" y="1417320"/>
          <a:ext cx="5394960" cy="4206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89320" y="1097280"/>
            <a:ext cx="1828800" cy="1600200"/>
          </a:xfrm>
          <a:prstGeom prst="rect">
            <a:avLst/>
          </a:prstGeom>
          <a:solidFill>
            <a:srgbClr val="EBF4FB"/>
          </a:solidFill>
          <a:ln w="12700">
            <a:solidFill>
              <a:srgbClr val="EBF4FB"/>
            </a:solidFill>
            <a:prstDash val="solid"/>
          </a:ln>
        </p:spPr>
      </p:sp>
      <p:sp>
        <p:nvSpPr>
          <p:cNvPr id="9" name="Text 6"/>
          <p:cNvSpPr txBox="1"/>
          <p:nvPr/>
        </p:nvSpPr>
        <p:spPr>
          <a:xfrm>
            <a:off x="6099048" y="1170432"/>
            <a:ext cx="160934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1 500</a:t>
            </a:r>
            <a:endParaRPr lang="en-US" sz="2800" dirty="0"/>
          </a:p>
        </p:txBody>
      </p:sp>
      <p:sp>
        <p:nvSpPr>
          <p:cNvPr id="10" name="Text 7"/>
          <p:cNvSpPr txBox="1"/>
          <p:nvPr/>
        </p:nvSpPr>
        <p:spPr>
          <a:xfrm>
            <a:off x="6099048" y="1755648"/>
            <a:ext cx="1609344" cy="86868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zones commerciales périphériques, 500 M m² au total</a:t>
            </a:r>
            <a:endParaRPr lang="en-US" sz="1100" dirty="0"/>
          </a:p>
        </p:txBody>
      </p:sp>
      <p:sp>
        <p:nvSpPr>
          <p:cNvPr id="11" name="Shape 8"/>
          <p:cNvSpPr/>
          <p:nvPr/>
        </p:nvSpPr>
        <p:spPr>
          <a:xfrm>
            <a:off x="7955280" y="1097280"/>
            <a:ext cx="1828800" cy="1600200"/>
          </a:xfrm>
          <a:prstGeom prst="rect">
            <a:avLst/>
          </a:prstGeom>
          <a:solidFill>
            <a:srgbClr val="EBF4FB"/>
          </a:solidFill>
          <a:ln w="12700">
            <a:solidFill>
              <a:srgbClr val="EBF4FB"/>
            </a:solidFill>
            <a:prstDash val="solid"/>
          </a:ln>
        </p:spPr>
      </p:sp>
      <p:sp>
        <p:nvSpPr>
          <p:cNvPr id="12" name="Text 9"/>
          <p:cNvSpPr txBox="1"/>
          <p:nvPr/>
        </p:nvSpPr>
        <p:spPr>
          <a:xfrm>
            <a:off x="8065008" y="1170432"/>
            <a:ext cx="160934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72 %</a:t>
            </a:r>
            <a:endParaRPr lang="en-US" sz="2800" dirty="0"/>
          </a:p>
        </p:txBody>
      </p:sp>
      <p:sp>
        <p:nvSpPr>
          <p:cNvPr id="13" name="Text 10"/>
          <p:cNvSpPr txBox="1"/>
          <p:nvPr/>
        </p:nvSpPr>
        <p:spPr>
          <a:xfrm>
            <a:off x="8065008" y="1755648"/>
            <a:ext cx="1609344" cy="86868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dépenses en magasin (centres-villes : 15 %)</a:t>
            </a:r>
            <a:endParaRPr lang="en-US" sz="1100" dirty="0"/>
          </a:p>
        </p:txBody>
      </p:sp>
      <p:sp>
        <p:nvSpPr>
          <p:cNvPr id="14" name="Shape 11"/>
          <p:cNvSpPr/>
          <p:nvPr/>
        </p:nvSpPr>
        <p:spPr>
          <a:xfrm>
            <a:off x="9921240" y="1097280"/>
            <a:ext cx="1920240" cy="1600200"/>
          </a:xfrm>
          <a:prstGeom prst="rect">
            <a:avLst/>
          </a:prstGeom>
          <a:solidFill>
            <a:srgbClr val="EBF4FB"/>
          </a:solidFill>
          <a:ln w="12700">
            <a:solidFill>
              <a:srgbClr val="EBF4FB"/>
            </a:solidFill>
            <a:prstDash val="solid"/>
          </a:ln>
        </p:spPr>
      </p:sp>
      <p:sp>
        <p:nvSpPr>
          <p:cNvPr id="15" name="Text 12"/>
          <p:cNvSpPr txBox="1"/>
          <p:nvPr/>
        </p:nvSpPr>
        <p:spPr>
          <a:xfrm>
            <a:off x="10030968" y="1170432"/>
            <a:ext cx="1700784" cy="566928"/>
          </a:xfrm>
          <a:prstGeom prst="rect">
            <a:avLst/>
          </a:prstGeom>
          <a:noFill/>
          <a:ln/>
        </p:spPr>
        <p:txBody>
          <a:bodyPr wrap="square" lIns="0" tIns="0" rIns="0" bIns="0" rtlCol="0" anchor="ctr"/>
          <a:lstStyle/>
          <a:p>
            <a:pPr indent="0" marL="0">
              <a:buNone/>
            </a:pPr>
            <a:r>
              <a:rPr lang="en-US" sz="2800" b="1" dirty="0">
                <a:solidFill>
                  <a:srgbClr val="D9822B"/>
                </a:solidFill>
                <a:latin typeface="Aptos" pitchFamily="34" charset="0"/>
                <a:ea typeface="Aptos" pitchFamily="34" charset="-122"/>
                <a:cs typeface="Aptos" pitchFamily="34" charset="-120"/>
              </a:rPr>
              <a:t>8,4 %</a:t>
            </a:r>
            <a:endParaRPr lang="en-US" sz="2800" dirty="0"/>
          </a:p>
        </p:txBody>
      </p:sp>
      <p:sp>
        <p:nvSpPr>
          <p:cNvPr id="16" name="Text 13"/>
          <p:cNvSpPr txBox="1"/>
          <p:nvPr/>
        </p:nvSpPr>
        <p:spPr>
          <a:xfrm>
            <a:off x="10030968" y="1755648"/>
            <a:ext cx="1700784" cy="86868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vacance en périphérie en 2025 (6,9 % en 2022)</a:t>
            </a:r>
            <a:endParaRPr lang="en-US" sz="1100" dirty="0"/>
          </a:p>
        </p:txBody>
      </p:sp>
      <p:sp>
        <p:nvSpPr>
          <p:cNvPr id="17" name="Text 14"/>
          <p:cNvSpPr txBox="1"/>
          <p:nvPr/>
        </p:nvSpPr>
        <p:spPr>
          <a:xfrm>
            <a:off x="5989320" y="2880360"/>
            <a:ext cx="5852160" cy="301752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003087"/>
                </a:solidFill>
                <a:latin typeface="Aptos" pitchFamily="34" charset="0"/>
                <a:ea typeface="Aptos" pitchFamily="34" charset="-122"/>
                <a:cs typeface="Aptos" pitchFamily="34" charset="-120"/>
              </a:rPr>
              <a:t>Emploi : </a:t>
            </a:r>
            <a:pPr indent="0" marL="0">
              <a:spcAft>
                <a:spcPts val="500"/>
              </a:spcAft>
              <a:buNone/>
            </a:pPr>
            <a:r>
              <a:rPr lang="en-US" sz="1300" dirty="0">
                <a:solidFill>
                  <a:srgbClr val="404040"/>
                </a:solidFill>
                <a:latin typeface="Aptos" pitchFamily="34" charset="0"/>
                <a:ea typeface="Aptos" pitchFamily="34" charset="-122"/>
                <a:cs typeface="Aptos" pitchFamily="34" charset="-120"/>
              </a:rPr>
              <a:t>entre 2016 et 2022, l'emploi salarié des points de vente progresse de 1,6 % par an dans les pôles périphériques, contre 1,1 % dans les pôles de centre-ville ; la périphérie porte 40 % des créations d'emplois, les centres-villes 28 %.</a:t>
            </a:r>
            <a:endParaRPr lang="en-US" sz="1300" dirty="0"/>
          </a:p>
          <a:p>
            <a:pPr marL="177800" indent="-177800">
              <a:spcAft>
                <a:spcPts val="500"/>
              </a:spcAft>
              <a:buSzPct val="100000"/>
              <a:buChar char="•"/>
            </a:pPr>
            <a:r>
              <a:rPr lang="en-US" sz="1300" b="1" dirty="0">
                <a:solidFill>
                  <a:srgbClr val="003087"/>
                </a:solidFill>
                <a:latin typeface="Aptos" pitchFamily="34" charset="0"/>
                <a:ea typeface="Aptos" pitchFamily="34" charset="-122"/>
                <a:cs typeface="Aptos" pitchFamily="34" charset="-120"/>
              </a:rPr>
              <a:t>Formats : </a:t>
            </a:r>
            <a:pPr indent="0" marL="0">
              <a:spcAft>
                <a:spcPts val="500"/>
              </a:spcAft>
              <a:buNone/>
            </a:pPr>
            <a:r>
              <a:rPr lang="en-US" sz="1300" dirty="0">
                <a:solidFill>
                  <a:srgbClr val="404040"/>
                </a:solidFill>
                <a:latin typeface="Aptos" pitchFamily="34" charset="0"/>
                <a:ea typeface="Aptos" pitchFamily="34" charset="-122"/>
                <a:cs typeface="Aptos" pitchFamily="34" charset="-120"/>
              </a:rPr>
              <a:t>un point de vente compte en moyenne 12 salariés et 586 m² en périphérie, contre 3 salariés et 92 m² en centre-ville.</a:t>
            </a:r>
            <a:endParaRPr lang="en-US" sz="1300" dirty="0"/>
          </a:p>
          <a:p>
            <a:pPr marL="177800" indent="-177800">
              <a:spcAft>
                <a:spcPts val="500"/>
              </a:spcAft>
              <a:buSzPct val="100000"/>
              <a:buChar char="•"/>
            </a:pPr>
            <a:r>
              <a:rPr lang="en-US" sz="1300" b="1" dirty="0">
                <a:solidFill>
                  <a:srgbClr val="003087"/>
                </a:solidFill>
                <a:latin typeface="Aptos" pitchFamily="34" charset="0"/>
                <a:ea typeface="Aptos" pitchFamily="34" charset="-122"/>
                <a:cs typeface="Aptos" pitchFamily="34" charset="-120"/>
              </a:rPr>
              <a:t>Vacance : </a:t>
            </a:r>
            <a:pPr indent="0" marL="0">
              <a:spcAft>
                <a:spcPts val="500"/>
              </a:spcAft>
              <a:buNone/>
            </a:pPr>
            <a:r>
              <a:rPr lang="en-US" sz="1300" dirty="0">
                <a:solidFill>
                  <a:srgbClr val="404040"/>
                </a:solidFill>
                <a:latin typeface="Aptos" pitchFamily="34" charset="0"/>
                <a:ea typeface="Aptos" pitchFamily="34" charset="-122"/>
                <a:cs typeface="Aptos" pitchFamily="34" charset="-120"/>
              </a:rPr>
              <a:t>la périphérie reste la mieux placée (8,4 %) face aux centres-villes (11,7 %) et aux centres commerciaux (16,8 %), mais l'écart se réduit.</a:t>
            </a:r>
            <a:endParaRPr lang="en-US" sz="1300" dirty="0"/>
          </a:p>
        </p:txBody>
      </p:sp>
      <p:sp>
        <p:nvSpPr>
          <p:cNvPr id="18" name="Text 15"/>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67 % de l'ensemble des ventes, internet compris ; 72 % des seules dépenses en magasin (autre source, autre périmètre).</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Rexecode, d'après Insee, Procos et Fevad (2024) ; Cerema (2023), géolocalisation des zones commerciales ; Gouvernement (2023), dossier de presse « Un nouvel horizon pour les zones commerciales » ; Bloch et Pichavant (2026), Insee Première n° 2091 ; Codata (2026).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périphériques : la régulation est passée de la protection du petit commerce à la sobriété foncière ; la transformation démarre</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Shape 4"/>
          <p:cNvSpPr/>
          <p:nvPr/>
        </p:nvSpPr>
        <p:spPr>
          <a:xfrm>
            <a:off x="1051560" y="1600200"/>
            <a:ext cx="10058400" cy="0"/>
          </a:xfrm>
          <a:prstGeom prst="line">
            <a:avLst/>
          </a:prstGeom>
          <a:noFill/>
          <a:ln w="25400">
            <a:solidFill>
              <a:srgbClr val="B4BCC6"/>
            </a:solidFill>
            <a:prstDash val="solid"/>
          </a:ln>
        </p:spPr>
      </p:sp>
      <p:sp>
        <p:nvSpPr>
          <p:cNvPr id="7" name="Shape 5"/>
          <p:cNvSpPr/>
          <p:nvPr/>
        </p:nvSpPr>
        <p:spPr>
          <a:xfrm>
            <a:off x="960120" y="1508760"/>
            <a:ext cx="182880" cy="182880"/>
          </a:xfrm>
          <a:prstGeom prst="ellipse">
            <a:avLst/>
          </a:prstGeom>
          <a:solidFill>
            <a:srgbClr val="8DB9E2"/>
          </a:solidFill>
          <a:ln w="19050">
            <a:solidFill>
              <a:srgbClr val="FFFFFF"/>
            </a:solidFill>
            <a:prstDash val="solid"/>
          </a:ln>
        </p:spPr>
      </p:sp>
      <p:sp>
        <p:nvSpPr>
          <p:cNvPr id="8" name="Text 6"/>
          <p:cNvSpPr txBox="1"/>
          <p:nvPr/>
        </p:nvSpPr>
        <p:spPr>
          <a:xfrm>
            <a:off x="3200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1973</a:t>
            </a:r>
            <a:endParaRPr lang="en-US" sz="1200" dirty="0"/>
          </a:p>
        </p:txBody>
      </p:sp>
      <p:sp>
        <p:nvSpPr>
          <p:cNvPr id="9" name="Text 7"/>
          <p:cNvSpPr txBox="1"/>
          <p:nvPr/>
        </p:nvSpPr>
        <p:spPr>
          <a:xfrm>
            <a:off x="2743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Loi Royer</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CDUC ; seuils de 1 000 à 1 500 m²</a:t>
            </a:r>
            <a:endParaRPr lang="en-US" sz="950" dirty="0"/>
          </a:p>
        </p:txBody>
      </p:sp>
      <p:sp>
        <p:nvSpPr>
          <p:cNvPr id="10" name="Shape 8"/>
          <p:cNvSpPr/>
          <p:nvPr/>
        </p:nvSpPr>
        <p:spPr>
          <a:xfrm>
            <a:off x="2636520" y="1508760"/>
            <a:ext cx="182880" cy="182880"/>
          </a:xfrm>
          <a:prstGeom prst="ellipse">
            <a:avLst/>
          </a:prstGeom>
          <a:solidFill>
            <a:srgbClr val="8DB9E2"/>
          </a:solidFill>
          <a:ln w="19050">
            <a:solidFill>
              <a:srgbClr val="FFFFFF"/>
            </a:solidFill>
            <a:prstDash val="solid"/>
          </a:ln>
        </p:spPr>
      </p:sp>
      <p:sp>
        <p:nvSpPr>
          <p:cNvPr id="11" name="Text 9"/>
          <p:cNvSpPr txBox="1"/>
          <p:nvPr/>
        </p:nvSpPr>
        <p:spPr>
          <a:xfrm>
            <a:off x="19964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1996</a:t>
            </a:r>
            <a:endParaRPr lang="en-US" sz="1200" dirty="0"/>
          </a:p>
        </p:txBody>
      </p:sp>
      <p:sp>
        <p:nvSpPr>
          <p:cNvPr id="12" name="Text 10"/>
          <p:cNvSpPr txBox="1"/>
          <p:nvPr/>
        </p:nvSpPr>
        <p:spPr>
          <a:xfrm>
            <a:off x="19507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Loi Raffarin</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Seuil abaissé à 300 m²</a:t>
            </a:r>
            <a:endParaRPr lang="en-US" sz="950" dirty="0"/>
          </a:p>
        </p:txBody>
      </p:sp>
      <p:sp>
        <p:nvSpPr>
          <p:cNvPr id="13" name="Shape 11"/>
          <p:cNvSpPr/>
          <p:nvPr/>
        </p:nvSpPr>
        <p:spPr>
          <a:xfrm>
            <a:off x="4312920" y="1508760"/>
            <a:ext cx="182880" cy="182880"/>
          </a:xfrm>
          <a:prstGeom prst="ellipse">
            <a:avLst/>
          </a:prstGeom>
          <a:solidFill>
            <a:srgbClr val="8DB9E2"/>
          </a:solidFill>
          <a:ln w="19050">
            <a:solidFill>
              <a:srgbClr val="FFFFFF"/>
            </a:solidFill>
            <a:prstDash val="solid"/>
          </a:ln>
        </p:spPr>
      </p:sp>
      <p:sp>
        <p:nvSpPr>
          <p:cNvPr id="14" name="Text 12"/>
          <p:cNvSpPr txBox="1"/>
          <p:nvPr/>
        </p:nvSpPr>
        <p:spPr>
          <a:xfrm>
            <a:off x="36728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2008</a:t>
            </a:r>
            <a:endParaRPr lang="en-US" sz="1200" dirty="0"/>
          </a:p>
        </p:txBody>
      </p:sp>
      <p:sp>
        <p:nvSpPr>
          <p:cNvPr id="15" name="Text 13"/>
          <p:cNvSpPr txBox="1"/>
          <p:nvPr/>
        </p:nvSpPr>
        <p:spPr>
          <a:xfrm>
            <a:off x="36271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LME</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Seuil à 1 000 m² ; critères d'aménagement</a:t>
            </a:r>
            <a:endParaRPr lang="en-US" sz="950" dirty="0"/>
          </a:p>
        </p:txBody>
      </p:sp>
      <p:sp>
        <p:nvSpPr>
          <p:cNvPr id="16" name="Shape 14"/>
          <p:cNvSpPr/>
          <p:nvPr/>
        </p:nvSpPr>
        <p:spPr>
          <a:xfrm>
            <a:off x="5989320" y="1508760"/>
            <a:ext cx="182880" cy="182880"/>
          </a:xfrm>
          <a:prstGeom prst="ellipse">
            <a:avLst/>
          </a:prstGeom>
          <a:solidFill>
            <a:srgbClr val="0070C0"/>
          </a:solidFill>
          <a:ln w="19050">
            <a:solidFill>
              <a:srgbClr val="FFFFFF"/>
            </a:solidFill>
            <a:prstDash val="solid"/>
          </a:ln>
        </p:spPr>
      </p:sp>
      <p:sp>
        <p:nvSpPr>
          <p:cNvPr id="17" name="Text 15"/>
          <p:cNvSpPr txBox="1"/>
          <p:nvPr/>
        </p:nvSpPr>
        <p:spPr>
          <a:xfrm>
            <a:off x="53492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2014</a:t>
            </a:r>
            <a:endParaRPr lang="en-US" sz="1200" dirty="0"/>
          </a:p>
        </p:txBody>
      </p:sp>
      <p:sp>
        <p:nvSpPr>
          <p:cNvPr id="18" name="Text 16"/>
          <p:cNvSpPr txBox="1"/>
          <p:nvPr/>
        </p:nvSpPr>
        <p:spPr>
          <a:xfrm>
            <a:off x="53035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ALUR / Pinel</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DAAC dans les SCoT</a:t>
            </a:r>
            <a:endParaRPr lang="en-US" sz="950" dirty="0"/>
          </a:p>
        </p:txBody>
      </p:sp>
      <p:sp>
        <p:nvSpPr>
          <p:cNvPr id="19" name="Shape 17"/>
          <p:cNvSpPr/>
          <p:nvPr/>
        </p:nvSpPr>
        <p:spPr>
          <a:xfrm>
            <a:off x="7665720" y="1508760"/>
            <a:ext cx="182880" cy="182880"/>
          </a:xfrm>
          <a:prstGeom prst="ellipse">
            <a:avLst/>
          </a:prstGeom>
          <a:solidFill>
            <a:srgbClr val="0070C0"/>
          </a:solidFill>
          <a:ln w="19050">
            <a:solidFill>
              <a:srgbClr val="FFFFFF"/>
            </a:solidFill>
            <a:prstDash val="solid"/>
          </a:ln>
        </p:spPr>
      </p:sp>
      <p:sp>
        <p:nvSpPr>
          <p:cNvPr id="20" name="Text 18"/>
          <p:cNvSpPr txBox="1"/>
          <p:nvPr/>
        </p:nvSpPr>
        <p:spPr>
          <a:xfrm>
            <a:off x="70256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2018</a:t>
            </a:r>
            <a:endParaRPr lang="en-US" sz="1200" dirty="0"/>
          </a:p>
        </p:txBody>
      </p:sp>
      <p:sp>
        <p:nvSpPr>
          <p:cNvPr id="21" name="Text 19"/>
          <p:cNvSpPr txBox="1"/>
          <p:nvPr/>
        </p:nvSpPr>
        <p:spPr>
          <a:xfrm>
            <a:off x="69799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ELAN</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ORT, exemption d'autorisation</a:t>
            </a:r>
            <a:endParaRPr lang="en-US" sz="950" dirty="0"/>
          </a:p>
        </p:txBody>
      </p:sp>
      <p:sp>
        <p:nvSpPr>
          <p:cNvPr id="22" name="Shape 20"/>
          <p:cNvSpPr/>
          <p:nvPr/>
        </p:nvSpPr>
        <p:spPr>
          <a:xfrm>
            <a:off x="9342120" y="1508760"/>
            <a:ext cx="182880" cy="182880"/>
          </a:xfrm>
          <a:prstGeom prst="ellipse">
            <a:avLst/>
          </a:prstGeom>
          <a:solidFill>
            <a:srgbClr val="1D774A"/>
          </a:solidFill>
          <a:ln w="19050">
            <a:solidFill>
              <a:srgbClr val="FFFFFF"/>
            </a:solidFill>
            <a:prstDash val="solid"/>
          </a:ln>
        </p:spPr>
      </p:sp>
      <p:sp>
        <p:nvSpPr>
          <p:cNvPr id="23" name="Text 21"/>
          <p:cNvSpPr txBox="1"/>
          <p:nvPr/>
        </p:nvSpPr>
        <p:spPr>
          <a:xfrm>
            <a:off x="87020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2021</a:t>
            </a:r>
            <a:endParaRPr lang="en-US" sz="1200" dirty="0"/>
          </a:p>
        </p:txBody>
      </p:sp>
      <p:sp>
        <p:nvSpPr>
          <p:cNvPr id="24" name="Text 22"/>
          <p:cNvSpPr txBox="1"/>
          <p:nvPr/>
        </p:nvSpPr>
        <p:spPr>
          <a:xfrm>
            <a:off x="86563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Climat et résilience</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Objectif ZAN</a:t>
            </a:r>
            <a:endParaRPr lang="en-US" sz="950" dirty="0"/>
          </a:p>
        </p:txBody>
      </p:sp>
      <p:sp>
        <p:nvSpPr>
          <p:cNvPr id="25" name="Shape 23"/>
          <p:cNvSpPr/>
          <p:nvPr/>
        </p:nvSpPr>
        <p:spPr>
          <a:xfrm>
            <a:off x="11018520" y="1508760"/>
            <a:ext cx="182880" cy="182880"/>
          </a:xfrm>
          <a:prstGeom prst="ellipse">
            <a:avLst/>
          </a:prstGeom>
          <a:solidFill>
            <a:srgbClr val="1D774A"/>
          </a:solidFill>
          <a:ln w="19050">
            <a:solidFill>
              <a:srgbClr val="FFFFFF"/>
            </a:solidFill>
            <a:prstDash val="solid"/>
          </a:ln>
        </p:spPr>
      </p:sp>
      <p:sp>
        <p:nvSpPr>
          <p:cNvPr id="26" name="Text 24"/>
          <p:cNvSpPr txBox="1"/>
          <p:nvPr/>
        </p:nvSpPr>
        <p:spPr>
          <a:xfrm>
            <a:off x="103784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2023</a:t>
            </a:r>
            <a:endParaRPr lang="en-US" sz="1200" dirty="0"/>
          </a:p>
        </p:txBody>
      </p:sp>
      <p:sp>
        <p:nvSpPr>
          <p:cNvPr id="27" name="Text 25"/>
          <p:cNvSpPr txBox="1"/>
          <p:nvPr/>
        </p:nvSpPr>
        <p:spPr>
          <a:xfrm>
            <a:off x="103327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Plan zones commerciales</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Lancé le 11 septembre</a:t>
            </a:r>
            <a:endParaRPr lang="en-US" sz="950" dirty="0"/>
          </a:p>
        </p:txBody>
      </p:sp>
      <p:sp>
        <p:nvSpPr>
          <p:cNvPr id="28" name="Text 26"/>
          <p:cNvSpPr txBox="1"/>
          <p:nvPr/>
        </p:nvSpPr>
        <p:spPr>
          <a:xfrm>
            <a:off x="365760" y="2487168"/>
            <a:ext cx="11475720" cy="274320"/>
          </a:xfrm>
          <a:prstGeom prst="rect">
            <a:avLst/>
          </a:prstGeom>
          <a:noFill/>
          <a:ln/>
        </p:spPr>
        <p:txBody>
          <a:bodyPr wrap="square" lIns="0" tIns="0" rIns="0" bIns="0" rtlCol="0" anchor="ctr"/>
          <a:lstStyle/>
          <a:p>
            <a:pPr algn="ctr" indent="0" marL="0">
              <a:buNone/>
            </a:pPr>
            <a:r>
              <a:rPr lang="en-US" sz="1100" i="1" dirty="0">
                <a:solidFill>
                  <a:srgbClr val="1D774A"/>
                </a:solidFill>
                <a:latin typeface="Aptos" pitchFamily="34" charset="0"/>
                <a:ea typeface="Aptos" pitchFamily="34" charset="-122"/>
                <a:cs typeface="Aptos" pitchFamily="34" charset="-120"/>
              </a:rPr>
              <a:t>Protéger le petit commerce  →  encadrer la localisation  →  protéger les sols</a:t>
            </a:r>
            <a:endParaRPr lang="en-US" sz="1100" dirty="0"/>
          </a:p>
        </p:txBody>
      </p:sp>
      <p:sp>
        <p:nvSpPr>
          <p:cNvPr id="29" name="Shape 27"/>
          <p:cNvSpPr/>
          <p:nvPr/>
        </p:nvSpPr>
        <p:spPr>
          <a:xfrm>
            <a:off x="365760" y="2926080"/>
            <a:ext cx="2148840" cy="1463040"/>
          </a:xfrm>
          <a:prstGeom prst="rect">
            <a:avLst/>
          </a:prstGeom>
          <a:solidFill>
            <a:srgbClr val="EBF4FB"/>
          </a:solidFill>
          <a:ln w="12700">
            <a:solidFill>
              <a:srgbClr val="EBF4FB"/>
            </a:solidFill>
            <a:prstDash val="solid"/>
          </a:ln>
        </p:spPr>
      </p:sp>
      <p:sp>
        <p:nvSpPr>
          <p:cNvPr id="30" name="Text 28"/>
          <p:cNvSpPr txBox="1"/>
          <p:nvPr/>
        </p:nvSpPr>
        <p:spPr>
          <a:xfrm>
            <a:off x="475488" y="2999232"/>
            <a:ext cx="192938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−67 %</a:t>
            </a:r>
            <a:endParaRPr lang="en-US" sz="2800" dirty="0"/>
          </a:p>
        </p:txBody>
      </p:sp>
      <p:sp>
        <p:nvSpPr>
          <p:cNvPr id="31" name="Text 29"/>
          <p:cNvSpPr txBox="1"/>
          <p:nvPr/>
        </p:nvSpPr>
        <p:spPr>
          <a:xfrm>
            <a:off x="475488" y="3584448"/>
            <a:ext cx="1929384" cy="73152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surfaces autorisées en CDAC entre 2019 (1,3 M m²) et 2024 (0,47 M m²)</a:t>
            </a:r>
            <a:endParaRPr lang="en-US" sz="1100" dirty="0"/>
          </a:p>
        </p:txBody>
      </p:sp>
      <p:sp>
        <p:nvSpPr>
          <p:cNvPr id="32" name="Shape 30"/>
          <p:cNvSpPr/>
          <p:nvPr/>
        </p:nvSpPr>
        <p:spPr>
          <a:xfrm>
            <a:off x="365760" y="4526280"/>
            <a:ext cx="2148840" cy="1463040"/>
          </a:xfrm>
          <a:prstGeom prst="rect">
            <a:avLst/>
          </a:prstGeom>
          <a:solidFill>
            <a:srgbClr val="E8F5E9"/>
          </a:solidFill>
          <a:ln w="12700">
            <a:solidFill>
              <a:srgbClr val="E8F5E9"/>
            </a:solidFill>
            <a:prstDash val="solid"/>
          </a:ln>
        </p:spPr>
      </p:sp>
      <p:sp>
        <p:nvSpPr>
          <p:cNvPr id="33" name="Text 31"/>
          <p:cNvSpPr txBox="1"/>
          <p:nvPr/>
        </p:nvSpPr>
        <p:spPr>
          <a:xfrm>
            <a:off x="475488" y="4599432"/>
            <a:ext cx="1929384" cy="566928"/>
          </a:xfrm>
          <a:prstGeom prst="rect">
            <a:avLst/>
          </a:prstGeom>
          <a:noFill/>
          <a:ln/>
        </p:spPr>
        <p:txBody>
          <a:bodyPr wrap="square" lIns="0" tIns="0" rIns="0" bIns="0" rtlCol="0" anchor="ctr"/>
          <a:lstStyle/>
          <a:p>
            <a:pPr indent="0" marL="0">
              <a:buNone/>
            </a:pPr>
            <a:r>
              <a:rPr lang="en-US" sz="2800" b="1" dirty="0">
                <a:solidFill>
                  <a:srgbClr val="1D774A"/>
                </a:solidFill>
                <a:latin typeface="Aptos" pitchFamily="34" charset="0"/>
                <a:ea typeface="Aptos" pitchFamily="34" charset="-122"/>
                <a:cs typeface="Aptos" pitchFamily="34" charset="-120"/>
              </a:rPr>
              <a:t>−40 %</a:t>
            </a:r>
            <a:endParaRPr lang="en-US" sz="2800" dirty="0"/>
          </a:p>
        </p:txBody>
      </p:sp>
      <p:sp>
        <p:nvSpPr>
          <p:cNvPr id="34" name="Text 32"/>
          <p:cNvSpPr txBox="1"/>
          <p:nvPr/>
        </p:nvSpPr>
        <p:spPr>
          <a:xfrm>
            <a:off x="475488" y="5184648"/>
            <a:ext cx="1929384" cy="73152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consommation d'énergie exigée en 2030 pour les bâtiments de plus de 1 000 m²</a:t>
            </a:r>
            <a:endParaRPr lang="en-US" sz="1100" dirty="0"/>
          </a:p>
        </p:txBody>
      </p:sp>
      <p:sp>
        <p:nvSpPr>
          <p:cNvPr id="35" name="Shape 33"/>
          <p:cNvSpPr/>
          <p:nvPr/>
        </p:nvSpPr>
        <p:spPr>
          <a:xfrm>
            <a:off x="2697480" y="2926080"/>
            <a:ext cx="4480560" cy="3063240"/>
          </a:xfrm>
          <a:prstGeom prst="rect">
            <a:avLst/>
          </a:prstGeom>
          <a:solidFill>
            <a:srgbClr val="003087"/>
          </a:solidFill>
          <a:ln w="12700">
            <a:solidFill>
              <a:srgbClr val="003087"/>
            </a:solidFill>
            <a:prstDash val="solid"/>
          </a:ln>
        </p:spPr>
      </p:sp>
      <p:sp>
        <p:nvSpPr>
          <p:cNvPr id="36" name="Text 34"/>
          <p:cNvSpPr txBox="1"/>
          <p:nvPr/>
        </p:nvSpPr>
        <p:spPr>
          <a:xfrm>
            <a:off x="2880360" y="3035808"/>
            <a:ext cx="4114800" cy="548640"/>
          </a:xfrm>
          <a:prstGeom prst="rect">
            <a:avLst/>
          </a:prstGeom>
          <a:noFill/>
          <a:ln/>
        </p:spPr>
        <p:txBody>
          <a:bodyPr wrap="square" lIns="0" tIns="0" rIns="0" bIns="0" rtlCol="0" anchor="t"/>
          <a:lstStyle/>
          <a:p>
            <a:pPr indent="0" marL="0">
              <a:buNone/>
            </a:pPr>
            <a:r>
              <a:rPr lang="en-US" sz="1300" b="1" dirty="0">
                <a:solidFill>
                  <a:srgbClr val="FFFFFF"/>
                </a:solidFill>
                <a:latin typeface="Aptos" pitchFamily="34" charset="0"/>
                <a:ea typeface="Aptos" pitchFamily="34" charset="-122"/>
                <a:cs typeface="Aptos" pitchFamily="34" charset="-120"/>
              </a:rPr>
              <a:t>Plan de transformation des zones commerciales</a:t>
            </a:r>
            <a:endParaRPr lang="en-US" sz="1300" dirty="0"/>
          </a:p>
        </p:txBody>
      </p:sp>
      <p:sp>
        <p:nvSpPr>
          <p:cNvPr id="37" name="Text 35"/>
          <p:cNvSpPr txBox="1"/>
          <p:nvPr/>
        </p:nvSpPr>
        <p:spPr>
          <a:xfrm>
            <a:off x="2880360" y="3657600"/>
            <a:ext cx="4114800" cy="2286000"/>
          </a:xfrm>
          <a:prstGeom prst="rect">
            <a:avLst/>
          </a:prstGeom>
          <a:noFill/>
          <a:ln/>
        </p:spPr>
        <p:txBody>
          <a:bodyPr wrap="square" lIns="0" tIns="0" rIns="0" bIns="0" rtlCol="0" anchor="t"/>
          <a:lstStyle/>
          <a:p>
            <a:pPr indent="0" marL="0">
              <a:buNone/>
            </a:pPr>
            <a:r>
              <a:rPr lang="en-US" sz="2400" b="1" dirty="0">
                <a:solidFill>
                  <a:srgbClr val="FFFFFF"/>
                </a:solidFill>
                <a:latin typeface="Aptos" pitchFamily="34" charset="0"/>
                <a:ea typeface="Aptos" pitchFamily="34" charset="-122"/>
                <a:cs typeface="Aptos" pitchFamily="34" charset="-120"/>
              </a:rPr>
              <a:t>90 projets, 31,4 M€</a:t>
            </a:r>
            <a:endParaRPr lang="en-US" sz="1200" dirty="0"/>
          </a:p>
          <a:p>
            <a:pPr indent="0" marL="0">
              <a:buNone/>
            </a:pPr>
            <a:r>
              <a:rPr lang="en-US" sz="1200" dirty="0">
                <a:solidFill>
                  <a:srgbClr val="FFFFFF"/>
                </a:solidFill>
                <a:latin typeface="Aptos" pitchFamily="34" charset="0"/>
                <a:ea typeface="Aptos" pitchFamily="34" charset="-122"/>
                <a:cs typeface="Aptos" pitchFamily="34" charset="-120"/>
              </a:rPr>
              <a:t>74 lauréats en mars 2024 (26 M€, dont 20,3 M€ de travaux) et 16 en mai 2024 (5,4 M€), de la ville de 5 000 habitants à la métropole de 800 000.</a:t>
            </a:r>
            <a:endParaRPr lang="en-US" sz="1200" dirty="0"/>
          </a:p>
          <a:p>
            <a:pPr indent="0" marL="0">
              <a:buNone/>
            </a:pPr>
            <a:r>
              <a:rPr lang="en-US" sz="500" dirty="0">
                <a:solidFill>
                  <a:srgbClr val="FFFFFF"/>
                </a:solidFill>
                <a:latin typeface="Aptos" pitchFamily="34" charset="0"/>
                <a:ea typeface="Aptos" pitchFamily="34" charset="-122"/>
                <a:cs typeface="Aptos" pitchFamily="34" charset="-120"/>
              </a:rPr>
              <a:t> </a:t>
            </a:r>
            <a:endParaRPr lang="en-US" sz="1200" dirty="0"/>
          </a:p>
          <a:p>
            <a:pPr indent="0" marL="0">
              <a:buNone/>
            </a:pPr>
            <a:r>
              <a:rPr lang="en-US" sz="1200" dirty="0">
                <a:solidFill>
                  <a:srgbClr val="8DB9E2"/>
                </a:solidFill>
                <a:latin typeface="Aptos" pitchFamily="34" charset="0"/>
                <a:ea typeface="Aptos" pitchFamily="34" charset="-122"/>
                <a:cs typeface="Aptos" pitchFamily="34" charset="-120"/>
              </a:rPr>
              <a:t>Potentiel annoncé : 25 000 logements pour les 74 premiers projets. Pilotage DGE, ANCT, DGALN ; fonds de transformation environnementale de l'ANCT en complément.</a:t>
            </a:r>
            <a:endParaRPr lang="en-US" sz="1200" dirty="0"/>
          </a:p>
        </p:txBody>
      </p:sp>
      <p:sp>
        <p:nvSpPr>
          <p:cNvPr id="38" name="Shape 36"/>
          <p:cNvSpPr/>
          <p:nvPr/>
        </p:nvSpPr>
        <p:spPr>
          <a:xfrm>
            <a:off x="7360920" y="2926080"/>
            <a:ext cx="4480560" cy="3063240"/>
          </a:xfrm>
          <a:prstGeom prst="rect">
            <a:avLst/>
          </a:prstGeom>
          <a:solidFill>
            <a:srgbClr val="EBF4FB"/>
          </a:solidFill>
          <a:ln w="12700">
            <a:solidFill>
              <a:srgbClr val="EBF4FB"/>
            </a:solidFill>
            <a:prstDash val="solid"/>
          </a:ln>
        </p:spPr>
      </p:sp>
      <p:sp>
        <p:nvSpPr>
          <p:cNvPr id="39" name="Text 37"/>
          <p:cNvSpPr txBox="1"/>
          <p:nvPr/>
        </p:nvSpPr>
        <p:spPr>
          <a:xfrm>
            <a:off x="7543800" y="3035808"/>
            <a:ext cx="4114800" cy="548640"/>
          </a:xfrm>
          <a:prstGeom prst="rect">
            <a:avLst/>
          </a:prstGeom>
          <a:noFill/>
          <a:ln/>
        </p:spPr>
        <p:txBody>
          <a:bodyPr wrap="square" lIns="0" tIns="0" rIns="0" bIns="0" rtlCol="0" anchor="t"/>
          <a:lstStyle/>
          <a:p>
            <a:pPr indent="0" marL="0">
              <a:buNone/>
            </a:pPr>
            <a:r>
              <a:rPr lang="en-US" sz="1300" b="1" dirty="0">
                <a:solidFill>
                  <a:srgbClr val="003087"/>
                </a:solidFill>
                <a:latin typeface="Aptos" pitchFamily="34" charset="0"/>
                <a:ea typeface="Aptos" pitchFamily="34" charset="-122"/>
                <a:cs typeface="Aptos" pitchFamily="34" charset="-120"/>
              </a:rPr>
              <a:t>Exemple : Montigny-lès-Cormeilles (Val-d'Oise)</a:t>
            </a:r>
            <a:endParaRPr lang="en-US" sz="1300" dirty="0"/>
          </a:p>
        </p:txBody>
      </p:sp>
      <p:sp>
        <p:nvSpPr>
          <p:cNvPr id="40" name="Text 38"/>
          <p:cNvSpPr txBox="1"/>
          <p:nvPr/>
        </p:nvSpPr>
        <p:spPr>
          <a:xfrm>
            <a:off x="7543800" y="3657600"/>
            <a:ext cx="4160520" cy="22860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404040"/>
                </a:solidFill>
                <a:latin typeface="Aptos" pitchFamily="34" charset="0"/>
                <a:ea typeface="Aptos" pitchFamily="34" charset="-122"/>
                <a:cs typeface="Aptos" pitchFamily="34" charset="-120"/>
              </a:rPr>
              <a:t>Un linéaire commercial de 1,5 km et 250 000 m² de surfaces de vente le long de la RD14 (13 ha), transformé en nouveau centre-ville.</a:t>
            </a:r>
            <a:endParaRPr lang="en-US" sz="1150" dirty="0"/>
          </a:p>
          <a:p>
            <a:pPr marL="177800" indent="-177800">
              <a:spcAft>
                <a:spcPts val="500"/>
              </a:spcAft>
              <a:buSzPct val="100000"/>
              <a:buChar char="•"/>
            </a:pPr>
            <a:r>
              <a:rPr lang="en-US" sz="1150" dirty="0">
                <a:solidFill>
                  <a:srgbClr val="404040"/>
                </a:solidFill>
                <a:latin typeface="Aptos" pitchFamily="34" charset="0"/>
                <a:ea typeface="Aptos" pitchFamily="34" charset="-122"/>
                <a:cs typeface="Aptos" pitchFamily="34" charset="-120"/>
              </a:rPr>
              <a:t>Programme : 900 logements à l'horizon 2030, 24 000 m² de commerces en rez-de-chaussée, un bois de 3 ha ouvert au public, un groupe scolaire.</a:t>
            </a:r>
            <a:endParaRPr lang="en-US" sz="1150" dirty="0"/>
          </a:p>
          <a:p>
            <a:pPr marL="177800" indent="-177800">
              <a:spcAft>
                <a:spcPts val="500"/>
              </a:spcAft>
              <a:buSzPct val="100000"/>
              <a:buChar char="•"/>
            </a:pPr>
            <a:r>
              <a:rPr lang="en-US" sz="1150" dirty="0">
                <a:solidFill>
                  <a:srgbClr val="404040"/>
                </a:solidFill>
                <a:latin typeface="Aptos" pitchFamily="34" charset="0"/>
                <a:ea typeface="Aptos" pitchFamily="34" charset="-122"/>
                <a:cs typeface="Aptos" pitchFamily="34" charset="-120"/>
              </a:rPr>
              <a:t>Démarche lancée en 2010 ; portage foncier par l'EPF d'Île-de-France (2018) et la foncière « Repenser la ville » (Banque des Territoires, Frey, CDC Habitat).</a:t>
            </a:r>
            <a:endParaRPr lang="en-US" sz="1150" dirty="0"/>
          </a:p>
        </p:txBody>
      </p:sp>
      <p:sp>
        <p:nvSpPr>
          <p:cNvPr id="41" name="Text 39"/>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Sources : Procos, cité par LSA (2025) et Banque des Territoires ; décret n° 2019-771 du 23 juillet 2019 ; loi n° 2021-1104 du 22 août 2021 ; ministère de l'Économie (2024), communiqués des 29 mars et 24 mai 2024 ; Cerema, Urbanisme commercial, fiche n° 3 « Transformer les périphéries commerciales » ; lois n° 73-1193, 96-603, 2008-776, 2014-366, 2014-626, 2018-1021.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Commerce de détail en France : rappel, double transition et deux focus territoriaux</dc:title>
  <dc:subject>PptxGenJS Presentation</dc:subject>
  <dc:creator>PptxGenJS</dc:creator>
  <cp:lastModifiedBy>PptxGenJS</cp:lastModifiedBy>
  <cp:revision>1</cp:revision>
  <dcterms:created xsi:type="dcterms:W3CDTF">2026-09-28T14:10:59Z</dcterms:created>
  <dcterms:modified xsi:type="dcterms:W3CDTF">2026-09-28T14:10:59Z</dcterms:modified>
</cp:coreProperties>
</file>