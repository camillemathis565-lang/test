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230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B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CBE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C2C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Periphery</c:v>
                  </c:pt>
                  <c:pt idx="1">
                    <c:v>City centres</c:v>
                  </c:pt>
                  <c:pt idx="2">
                    <c:v>Neighbourhood</c:v>
                  </c:pt>
                  <c:pt idx="3">
                    <c:v>Online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2230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0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B8C2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230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C2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B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Shopping centres</c:v>
                  </c:pt>
                  <c:pt idx="1">
                    <c:v>City centres</c:v>
                  </c:pt>
                  <c:pt idx="2">
                    <c:v>Peripheral zones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16.8</c:v>
                </c:pt>
                <c:pt idx="1">
                  <c:v>11.7</c:v>
                </c:pt>
                <c:pt idx="2">
                  <c:v>8.4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400" u="none">
                  <a:solidFill>
                    <a:srgbClr val="2230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0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message: France is one of Europe's most polarised retail landscapes, the result of a historical choice for freedom of location. Peripheral zones account for two-thirds of sales and most of the growth in jobs and floor space. The contrast with Germany or the Netherlands, where planning governs retail location, is stark.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Peripheral zones remain the best-performing format on footfall and vacancy. But their vacancy has doubled since 2007 and is now rising faster than in city centres: oversupply, car dependence and ageing buildings. Regulation has shifted: the ZAN objective cut authorisations by two-thirds. Expansion is no longer a strategy; only transformation of the existing stock remains.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Fifty years of retail planning law moved from protecting competitors to protecting land. The legal tools are in place (SCoT/DAAC, ORT, large-scale urban operations), but transformation proceeds project by project and depends on local political will. The €31.4m of the plan matters for each project but is marginal against more than 1,500 zones. Montigny-lès-Cormeilles shows what a full transformation takes: time (since 2010), land assembly and an urban project. The points listed are for discussion, not settled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WEIGHT OF THE PERIPHERY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 has made the urban edge the core of its retail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4173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0136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6829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retail sales made in peripheral zones (2024)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606040" cy="14173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80136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1,500+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6829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commercial zones covering 500 million m², five times the built area of Paris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10128"/>
            <a:ext cx="5349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European model.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Belgium and the Madrid region, France favoured freedom of location. Germany, Italy, Catalonia, England and the Netherlands chose binding planning: German retail is split roughly evenly between the periphery, city centres and neighbourhoods.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periphery creates the jobs.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2016 and 2022, retail employment grew by 8% in peripheral zones against 1.2% in city centres. The number of establishments rose by 9% in the periphery and fell by 6% in city centres.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different formats.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store occupies 730 m² in the periphery against 115 m² in city centres.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in France by location, 2024 (%)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217920" y="2148840"/>
          <a:ext cx="5440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DGE working note, based on Cerema and ANCT (zones and land), Procos (sales split), Insee (employment, establishments, floor space).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 MODEL UNDER STRAIN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periphery still wins on volume, but the model is eroding and regulation has changed course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4173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0136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6829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vacancy since 2007 (from under 4% to over 8%), now rising faster than in city centres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606040" cy="14173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80136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−67%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6829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retail floor space authorised between 2019 and 2024 (1.31 to 0.47 million m²)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10128"/>
            <a:ext cx="5349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ahead.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March 2026, footfall grew by 1.6% year-on-year in peripheral zones against −0.1% in city centres, and 62% of French people say they prefer peripheral zones.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ageing stock.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from the 1960s–1990s, often poorly insulated, must cut energy use by 40% by 2030 under the tertiary-sector decree.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protecting competitors to protecting land.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Royer (1973) and Raffarin (1996) laws, the 2021 Climate and Resilience Act set a no-net-land-take (ZAN) objective. France is the only European country to make it legally binding; Germany and Flanders rely on non-binding targets.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vacancy rate by location, 2025 (%)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217920" y="2148840"/>
          <a:ext cx="5440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DGE working note, based on Procos/Kyris (authorisations), Ifop survey for ANCT and Banque des Territoires, tertiary-sector decree, European comparisons (EMSFI dissertation).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TRANSFORMING THE EXISTING STOCK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exist, but funding is far below the scale of the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2231136"/>
            <a:ext cx="201168" cy="201168"/>
          </a:xfrm>
          <a:prstGeom prst="ellipse">
            <a:avLst/>
          </a:prstGeom>
          <a:solidFill>
            <a:srgbClr val="A9C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" y="2496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Royer law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24605" y="2231136"/>
            <a:ext cx="201168" cy="201168"/>
          </a:xfrm>
          <a:prstGeom prst="ellipse">
            <a:avLst/>
          </a:prstGeom>
          <a:solidFill>
            <a:srgbClr val="A9C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85109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11957" y="2496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Raffarin law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26833" y="2231136"/>
            <a:ext cx="201168" cy="201168"/>
          </a:xfrm>
          <a:prstGeom prst="ellipse">
            <a:avLst/>
          </a:prstGeom>
          <a:solidFill>
            <a:srgbClr val="A9C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87337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14185" y="2496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29062" y="2231136"/>
            <a:ext cx="201168" cy="201168"/>
          </a:xfrm>
          <a:prstGeom prst="ellipse">
            <a:avLst/>
          </a:prstGeom>
          <a:solidFill>
            <a:srgbClr val="2E6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89566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16414" y="2496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/ Pinel: DAAC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31290" y="2231136"/>
            <a:ext cx="201168" cy="201168"/>
          </a:xfrm>
          <a:prstGeom prst="ellipse">
            <a:avLst/>
          </a:prstGeom>
          <a:solidFill>
            <a:srgbClr val="2E6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91794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18642" y="2496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ELAN: 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33519" y="2231136"/>
            <a:ext cx="201168" cy="201168"/>
          </a:xfrm>
          <a:prstGeom prst="ellipse">
            <a:avLst/>
          </a:prstGeom>
          <a:solidFill>
            <a:srgbClr val="2E6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94023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620871" y="2496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Act: ZAN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35747" y="2231136"/>
            <a:ext cx="201168" cy="201168"/>
          </a:xfrm>
          <a:prstGeom prst="ellipse">
            <a:avLst/>
          </a:prstGeom>
          <a:solidFill>
            <a:srgbClr val="2E6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96251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23099" y="2496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transformation plan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237976" y="2231136"/>
            <a:ext cx="201168" cy="201168"/>
          </a:xfrm>
          <a:prstGeom prst="ellipse">
            <a:avLst/>
          </a:prstGeom>
          <a:solidFill>
            <a:srgbClr val="2E6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984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625328" y="2496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law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small retailers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059783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land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154680"/>
            <a:ext cx="2926080" cy="3108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3337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€31.4 m</a:t>
            </a:r>
            <a:endParaRPr lang="en-US" sz="32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40233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90 winning projects of the transformation plan (2024), against more than 1,500 zones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440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C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€21,000 per zone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57600" y="3154680"/>
            <a:ext cx="3749040" cy="31089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886200" y="33375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Montigny-lès-Cormeilles (Val-d'Oise)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3886200" y="384048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1.5 km retail strip with 250,000 m² of floor space turned into a new town centre: 900 homes, 24,000 m² of shops and a 3-hectare park. Land assembly by the Île-de-France land agency and the Banque des Territoires property fund.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589520" y="3154680"/>
            <a:ext cx="4069080" cy="31089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1812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for discussion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818120" y="3886200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2E6D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18120" y="3886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796528" y="384048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up: fund transformation in line with the 1,500 zones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818120" y="4489704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2E6D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18120" y="44897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DGE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796528" y="444398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energy retrofit of the stock required by the tertiary-sector decree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818120" y="509320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818120" y="50932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GROW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8796528" y="504748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European approaches to retail planning and land sobriety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818120" y="5696712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818120" y="56967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GROW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796528" y="565099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EU funds (ERDF) to the conversion of retail brownfields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DGE working note; Cerema, sheet no. 3 "Transformer les périphéries commerciales"; ANCT; Banque des Territoires.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Peripheral retail zones in France</dc:title>
  <dc:subject>PptxGenJS Presentation</dc:subject>
  <dc:creator>PptxGenJS</dc:creator>
  <cp:lastModifiedBy>PptxGenJS</cp:lastModifiedBy>
  <cp:revision>1</cp:revision>
  <dcterms:created xsi:type="dcterms:W3CDTF">2026-09-28T12:03:09Z</dcterms:created>
  <dcterms:modified xsi:type="dcterms:W3CDTF">2026-09-28T12:03:09Z</dcterms:modified>
</cp:coreProperties>
</file>